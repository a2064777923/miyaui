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6" r:id="rId4"/>
    <p:sldId id="277" r:id="rId5"/>
    <p:sldId id="282" r:id="rId6"/>
    <p:sldId id="283" r:id="rId7"/>
    <p:sldId id="284" r:id="rId8"/>
    <p:sldId id="278" r:id="rId9"/>
    <p:sldId id="286" r:id="rId10"/>
    <p:sldId id="287" r:id="rId11"/>
    <p:sldId id="285" r:id="rId12"/>
    <p:sldId id="279" r:id="rId13"/>
    <p:sldId id="290" r:id="rId14"/>
    <p:sldId id="291" r:id="rId15"/>
    <p:sldId id="292" r:id="rId16"/>
    <p:sldId id="280" r:id="rId17"/>
    <p:sldId id="288" r:id="rId18"/>
    <p:sldId id="289" r:id="rId19"/>
    <p:sldId id="15714082" r:id="rId20"/>
    <p:sldId id="281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625"/>
    <a:srgbClr val="FEF3E7"/>
    <a:srgbClr val="0000FF"/>
    <a:srgbClr val="FF6A48"/>
    <a:srgbClr val="F5C16B"/>
    <a:srgbClr val="FBD9B3"/>
    <a:srgbClr val="EA752D"/>
    <a:srgbClr val="F6A932"/>
    <a:srgbClr val="803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FD1C0A-DAB7-45F3-A008-E8D227EBB6D7}" type="datetimeFigureOut">
              <a:rPr lang="zh-CN" altLang="en-US" smtClean="0">
                <a:sym typeface="思源黑体 Normal" panose="020B0400000000000000" pitchFamily="34" charset="-122"/>
              </a:rPr>
              <a:pPr/>
              <a:t>2023/12/18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pPr/>
              <a:t>‹#›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580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889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2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2036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3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409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4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8397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5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593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6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6972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7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3656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8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8836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9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1654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10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2869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11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0742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12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583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13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0775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14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3513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15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826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16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7667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17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55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18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6298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19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9699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7E2AC-D156-4777-A925-CD9EFF7FC158}" type="slidenum">
              <a:rPr lang="zh-CN" altLang="en-US" smtClean="0">
                <a:sym typeface="思源黑体 Normal" panose="020B0400000000000000" pitchFamily="34" charset="-122"/>
              </a:rPr>
              <a:t>20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9468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格调办公www.styleppt.co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2023/12/18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" name="图片 1" descr="未标题-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224" y="5535"/>
              <a:ext cx="518" cy="581"/>
            </a:xfrm>
            <a:custGeom>
              <a:avLst/>
              <a:gdLst>
                <a:gd name="connsiteX0" fmla="*/ 301 w 517"/>
                <a:gd name="connsiteY0" fmla="*/ 233 h 580"/>
                <a:gd name="connsiteX1" fmla="*/ 238 w 517"/>
                <a:gd name="connsiteY1" fmla="*/ 422 h 580"/>
                <a:gd name="connsiteX2" fmla="*/ 7 w 517"/>
                <a:gd name="connsiteY2" fmla="*/ 507 h 580"/>
                <a:gd name="connsiteX3" fmla="*/ 139 w 517"/>
                <a:gd name="connsiteY3" fmla="*/ 576 h 580"/>
                <a:gd name="connsiteX4" fmla="*/ 465 w 517"/>
                <a:gd name="connsiteY4" fmla="*/ 471 h 580"/>
                <a:gd name="connsiteX5" fmla="*/ 489 w 517"/>
                <a:gd name="connsiteY5" fmla="*/ 29 h 580"/>
                <a:gd name="connsiteX6" fmla="*/ 344 w 517"/>
                <a:gd name="connsiteY6" fmla="*/ 71 h 580"/>
                <a:gd name="connsiteX7" fmla="*/ 301 w 517"/>
                <a:gd name="connsiteY7" fmla="*/ 233 h 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8" h="581">
                  <a:moveTo>
                    <a:pt x="301" y="233"/>
                  </a:moveTo>
                  <a:cubicBezTo>
                    <a:pt x="285" y="284"/>
                    <a:pt x="304" y="378"/>
                    <a:pt x="238" y="422"/>
                  </a:cubicBezTo>
                  <a:cubicBezTo>
                    <a:pt x="172" y="466"/>
                    <a:pt x="35" y="476"/>
                    <a:pt x="7" y="507"/>
                  </a:cubicBezTo>
                  <a:cubicBezTo>
                    <a:pt x="-21" y="538"/>
                    <a:pt x="38" y="563"/>
                    <a:pt x="139" y="576"/>
                  </a:cubicBezTo>
                  <a:cubicBezTo>
                    <a:pt x="239" y="589"/>
                    <a:pt x="387" y="581"/>
                    <a:pt x="465" y="471"/>
                  </a:cubicBezTo>
                  <a:cubicBezTo>
                    <a:pt x="543" y="361"/>
                    <a:pt x="520" y="98"/>
                    <a:pt x="489" y="29"/>
                  </a:cubicBezTo>
                  <a:cubicBezTo>
                    <a:pt x="458" y="-40"/>
                    <a:pt x="382" y="30"/>
                    <a:pt x="344" y="71"/>
                  </a:cubicBezTo>
                  <a:cubicBezTo>
                    <a:pt x="306" y="112"/>
                    <a:pt x="317" y="183"/>
                    <a:pt x="301" y="233"/>
                  </a:cubicBezTo>
                  <a:close/>
                </a:path>
              </a:pathLst>
            </a:custGeom>
            <a:gradFill>
              <a:gsLst>
                <a:gs pos="0">
                  <a:srgbClr val="F6A932"/>
                </a:gs>
                <a:gs pos="100000">
                  <a:srgbClr val="EA752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089275" y="2224088"/>
            <a:ext cx="6946900" cy="2287905"/>
            <a:chOff x="4865" y="3566"/>
            <a:chExt cx="10940" cy="3603"/>
          </a:xfrm>
        </p:grpSpPr>
        <p:sp>
          <p:nvSpPr>
            <p:cNvPr id="3" name="文本框 2"/>
            <p:cNvSpPr txBox="1"/>
            <p:nvPr/>
          </p:nvSpPr>
          <p:spPr>
            <a:xfrm>
              <a:off x="4865" y="4036"/>
              <a:ext cx="10940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dirty="0">
                  <a:solidFill>
                    <a:srgbClr val="BD3625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OPPOSans B" panose="00020600040101010101" pitchFamily="18" charset="-122"/>
                </a:rPr>
                <a:t>新年元旦主题班会</a:t>
              </a: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6026" y="5310"/>
              <a:ext cx="8618" cy="11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单击此处输入你的正文，文字是您思想的提炼，为了最终演示发布的良好效果，请尽量言简意赅的阐述观点。单击此处输入你的正文。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8876" y="6659"/>
              <a:ext cx="2918" cy="510"/>
            </a:xfrm>
            <a:prstGeom prst="roundRect">
              <a:avLst>
                <a:gd name="adj" fmla="val 50000"/>
              </a:avLst>
            </a:prstGeom>
            <a:solidFill>
              <a:srgbClr val="BD36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683" y="6649"/>
              <a:ext cx="3305" cy="5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班主任：</a:t>
              </a:r>
              <a:r>
                <a:rPr lang="en-US" altLang="zh-CN" sz="1600" dirty="0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XXX</a:t>
              </a:r>
              <a:endParaRPr lang="zh-CN" altLang="en-US" sz="1600" dirty="0">
                <a:solidFill>
                  <a:schemeClr val="bg1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936" y="3566"/>
              <a:ext cx="412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HAPPY NEW YEAR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064260" y="1309053"/>
            <a:ext cx="4065270" cy="4077970"/>
            <a:chOff x="1924" y="1825"/>
            <a:chExt cx="6402" cy="6422"/>
          </a:xfrm>
        </p:grpSpPr>
        <p:sp>
          <p:nvSpPr>
            <p:cNvPr id="31" name="文本框 30"/>
            <p:cNvSpPr txBox="1"/>
            <p:nvPr/>
          </p:nvSpPr>
          <p:spPr>
            <a:xfrm>
              <a:off x="1924" y="1825"/>
              <a:ext cx="3366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52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目录</a:t>
              </a:r>
            </a:p>
          </p:txBody>
        </p:sp>
        <p:pic>
          <p:nvPicPr>
            <p:cNvPr id="3" name="图片 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12" y="3580"/>
              <a:ext cx="806" cy="806"/>
            </a:xfrm>
            <a:prstGeom prst="rect">
              <a:avLst/>
            </a:prstGeom>
          </p:spPr>
        </p:pic>
        <p:sp>
          <p:nvSpPr>
            <p:cNvPr id="98" name="文本框 97"/>
            <p:cNvSpPr txBox="1"/>
            <p:nvPr/>
          </p:nvSpPr>
          <p:spPr>
            <a:xfrm>
              <a:off x="3186" y="3685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元旦的定义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020" y="2408"/>
              <a:ext cx="2408" cy="7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2400" dirty="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/MULU</a:t>
              </a:r>
            </a:p>
          </p:txBody>
        </p:sp>
        <p:pic>
          <p:nvPicPr>
            <p:cNvPr id="7" name="图片 6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12" y="4830"/>
              <a:ext cx="806" cy="806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3186" y="4935"/>
              <a:ext cx="514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元旦各国风情</a:t>
              </a:r>
            </a:p>
          </p:txBody>
        </p:sp>
        <p:pic>
          <p:nvPicPr>
            <p:cNvPr id="9" name="图片 8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12" y="6133"/>
              <a:ext cx="806" cy="806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3186" y="6238"/>
              <a:ext cx="514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元旦相关诗话</a:t>
              </a:r>
            </a:p>
          </p:txBody>
        </p:sp>
        <p:pic>
          <p:nvPicPr>
            <p:cNvPr id="11" name="图片 10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12" y="7417"/>
              <a:ext cx="806" cy="806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186" y="7522"/>
              <a:ext cx="514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新年</a:t>
              </a:r>
              <a:r>
                <a:rPr lang="zh-CN" altLang="en-US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心愿与目标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" name="图片 1" descr="未标题-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224" y="5535"/>
              <a:ext cx="518" cy="581"/>
            </a:xfrm>
            <a:custGeom>
              <a:avLst/>
              <a:gdLst>
                <a:gd name="connsiteX0" fmla="*/ 301 w 517"/>
                <a:gd name="connsiteY0" fmla="*/ 233 h 580"/>
                <a:gd name="connsiteX1" fmla="*/ 238 w 517"/>
                <a:gd name="connsiteY1" fmla="*/ 422 h 580"/>
                <a:gd name="connsiteX2" fmla="*/ 7 w 517"/>
                <a:gd name="connsiteY2" fmla="*/ 507 h 580"/>
                <a:gd name="connsiteX3" fmla="*/ 139 w 517"/>
                <a:gd name="connsiteY3" fmla="*/ 576 h 580"/>
                <a:gd name="connsiteX4" fmla="*/ 465 w 517"/>
                <a:gd name="connsiteY4" fmla="*/ 471 h 580"/>
                <a:gd name="connsiteX5" fmla="*/ 489 w 517"/>
                <a:gd name="connsiteY5" fmla="*/ 29 h 580"/>
                <a:gd name="connsiteX6" fmla="*/ 344 w 517"/>
                <a:gd name="connsiteY6" fmla="*/ 71 h 580"/>
                <a:gd name="connsiteX7" fmla="*/ 301 w 517"/>
                <a:gd name="connsiteY7" fmla="*/ 233 h 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8" h="581">
                  <a:moveTo>
                    <a:pt x="301" y="233"/>
                  </a:moveTo>
                  <a:cubicBezTo>
                    <a:pt x="285" y="284"/>
                    <a:pt x="304" y="378"/>
                    <a:pt x="238" y="422"/>
                  </a:cubicBezTo>
                  <a:cubicBezTo>
                    <a:pt x="172" y="466"/>
                    <a:pt x="35" y="476"/>
                    <a:pt x="7" y="507"/>
                  </a:cubicBezTo>
                  <a:cubicBezTo>
                    <a:pt x="-21" y="538"/>
                    <a:pt x="38" y="563"/>
                    <a:pt x="139" y="576"/>
                  </a:cubicBezTo>
                  <a:cubicBezTo>
                    <a:pt x="239" y="589"/>
                    <a:pt x="387" y="581"/>
                    <a:pt x="465" y="471"/>
                  </a:cubicBezTo>
                  <a:cubicBezTo>
                    <a:pt x="543" y="361"/>
                    <a:pt x="520" y="98"/>
                    <a:pt x="489" y="29"/>
                  </a:cubicBezTo>
                  <a:cubicBezTo>
                    <a:pt x="458" y="-40"/>
                    <a:pt x="382" y="30"/>
                    <a:pt x="344" y="71"/>
                  </a:cubicBezTo>
                  <a:cubicBezTo>
                    <a:pt x="306" y="112"/>
                    <a:pt x="317" y="183"/>
                    <a:pt x="301" y="233"/>
                  </a:cubicBezTo>
                  <a:close/>
                </a:path>
              </a:pathLst>
            </a:custGeom>
            <a:gradFill>
              <a:gsLst>
                <a:gs pos="0">
                  <a:srgbClr val="F6A932"/>
                </a:gs>
                <a:gs pos="100000">
                  <a:srgbClr val="EA752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89275" y="2522855"/>
            <a:ext cx="69469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元旦的定义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4593273" y="3331845"/>
            <a:ext cx="3938905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单击此处输入你的正文，文字是您思想的提炼，请尽量言简意赅的阐述观点。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5636260" y="4188460"/>
            <a:ext cx="1852930" cy="323850"/>
          </a:xfrm>
          <a:prstGeom prst="roundRect">
            <a:avLst>
              <a:gd name="adj" fmla="val 50000"/>
            </a:avLst>
          </a:prstGeom>
          <a:solidFill>
            <a:srgbClr val="BD3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D3625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13705" y="4182110"/>
            <a:ext cx="209867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第一部分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53990" y="2224405"/>
            <a:ext cx="261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HAPPY NEW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300" cy="525780"/>
            <a:chOff x="1724" y="808"/>
            <a:chExt cx="4580" cy="828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元旦的定义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99820" y="1612900"/>
            <a:ext cx="10380980" cy="3632200"/>
            <a:chOff x="1732" y="2846"/>
            <a:chExt cx="16348" cy="5720"/>
          </a:xfrm>
        </p:grpSpPr>
        <p:grpSp>
          <p:nvGrpSpPr>
            <p:cNvPr id="33" name="组合 32"/>
            <p:cNvGrpSpPr/>
            <p:nvPr/>
          </p:nvGrpSpPr>
          <p:grpSpPr>
            <a:xfrm>
              <a:off x="1732" y="2846"/>
              <a:ext cx="5910" cy="2982"/>
              <a:chOff x="2275" y="2487"/>
              <a:chExt cx="5910" cy="2982"/>
            </a:xfrm>
          </p:grpSpPr>
          <p:sp>
            <p:nvSpPr>
              <p:cNvPr id="32" name="圆角矩形 31"/>
              <p:cNvSpPr/>
              <p:nvPr/>
            </p:nvSpPr>
            <p:spPr>
              <a:xfrm rot="2700000">
                <a:off x="2275" y="3570"/>
                <a:ext cx="376" cy="376"/>
              </a:xfrm>
              <a:prstGeom prst="roundRect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 flipH="1">
                <a:off x="2988" y="2487"/>
                <a:ext cx="5197" cy="29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元旦，即公历的</a:t>
                </a:r>
                <a:r>
                  <a:rPr lang="en-US" altLang="zh-CN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1</a:t>
                </a:r>
                <a:r>
                  <a:rPr lang="zh-CN" alt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月</a:t>
                </a:r>
                <a:r>
                  <a:rPr lang="en-US" altLang="zh-CN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1</a:t>
                </a:r>
                <a:r>
                  <a:rPr lang="zh-CN" alt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日，是世界多数国家通称的</a:t>
                </a:r>
                <a:r>
                  <a:rPr lang="en-US" altLang="zh-CN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“</a:t>
                </a:r>
                <a:r>
                  <a:rPr lang="zh-CN" alt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新年</a:t>
                </a:r>
                <a:r>
                  <a:rPr lang="en-US" altLang="zh-CN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”</a:t>
                </a:r>
                <a:r>
                  <a:rPr lang="zh-CN" alt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。元，</a:t>
                </a:r>
                <a:r>
                  <a:rPr lang="en-US" altLang="zh-CN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谓“始”，凡数之始称为“元”;旦，谓“日”;“元旦”即“初始之日”的意思。“元旦”通常指历法中的首月首日。</a:t>
                </a: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元旦又称</a:t>
                </a:r>
                <a:r>
                  <a:rPr 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“</a:t>
                </a: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三元</a:t>
                </a:r>
                <a:r>
                  <a:rPr 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”</a:t>
                </a: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，即岁之元、月之元、时之元</a:t>
                </a:r>
                <a:r>
                  <a:rPr lang="zh-CN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。</a:t>
                </a: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1911" y="5634"/>
              <a:ext cx="6169" cy="2932"/>
              <a:chOff x="2275" y="2292"/>
              <a:chExt cx="6169" cy="2932"/>
            </a:xfrm>
          </p:grpSpPr>
          <p:sp>
            <p:nvSpPr>
              <p:cNvPr id="38" name="圆角矩形 37"/>
              <p:cNvSpPr/>
              <p:nvPr/>
            </p:nvSpPr>
            <p:spPr>
              <a:xfrm rot="2700000">
                <a:off x="2275" y="3570"/>
                <a:ext cx="376" cy="376"/>
              </a:xfrm>
              <a:prstGeom prst="roundRect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 flipH="1">
                <a:off x="2988" y="2292"/>
                <a:ext cx="5456" cy="29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 dirty="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元旦，起于三皇五帝之一的颛顼，距今已有5000多年的历史。秦始皇统一中国后，又以阳春月（十月）为正月，即十月初一为元旦。从汉武帝起，规定孟喜月（元月）为正月，把孟喜月的第一天（夏历的正月初一）称为元旦，一直沿用到清朝末年。</a:t>
                </a: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2665730" y="1296035"/>
            <a:ext cx="5276850" cy="4265930"/>
            <a:chOff x="4198" y="2041"/>
            <a:chExt cx="8310" cy="6718"/>
          </a:xfrm>
        </p:grpSpPr>
        <p:sp>
          <p:nvSpPr>
            <p:cNvPr id="29" name="椭圆 28"/>
            <p:cNvSpPr/>
            <p:nvPr/>
          </p:nvSpPr>
          <p:spPr>
            <a:xfrm>
              <a:off x="9211" y="8285"/>
              <a:ext cx="2248" cy="456"/>
            </a:xfrm>
            <a:prstGeom prst="ellipse">
              <a:avLst/>
            </a:prstGeom>
            <a:solidFill>
              <a:srgbClr val="F5C16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5830" y="8291"/>
              <a:ext cx="1463" cy="293"/>
            </a:xfrm>
            <a:prstGeom prst="ellipse">
              <a:avLst/>
            </a:prstGeom>
            <a:solidFill>
              <a:srgbClr val="F5C16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pic>
          <p:nvPicPr>
            <p:cNvPr id="44" name="图片 43" descr="未标题-1"/>
            <p:cNvPicPr>
              <a:picLocks noChangeAspect="1"/>
            </p:cNvPicPr>
            <p:nvPr/>
          </p:nvPicPr>
          <p:blipFill>
            <a:blip r:embed="rId6">
              <a:lum bright="6000" contrast="-6000"/>
            </a:blip>
            <a:stretch>
              <a:fillRect/>
            </a:stretch>
          </p:blipFill>
          <p:spPr>
            <a:xfrm>
              <a:off x="4198" y="2041"/>
              <a:ext cx="8310" cy="67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300" cy="525780"/>
            <a:chOff x="1724" y="808"/>
            <a:chExt cx="4580" cy="828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元旦的定义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07123" y="1750060"/>
            <a:ext cx="9977755" cy="2890520"/>
            <a:chOff x="2550" y="2524"/>
            <a:chExt cx="15713" cy="4552"/>
          </a:xfrm>
        </p:grpSpPr>
        <p:pic>
          <p:nvPicPr>
            <p:cNvPr id="10" name="图片 9" descr="未标题-1-2"/>
            <p:cNvPicPr>
              <a:picLocks noChangeAspect="1"/>
            </p:cNvPicPr>
            <p:nvPr/>
          </p:nvPicPr>
          <p:blipFill>
            <a:blip r:embed="rId6"/>
            <a:srcRect t="14653"/>
            <a:stretch>
              <a:fillRect/>
            </a:stretch>
          </p:blipFill>
          <p:spPr>
            <a:xfrm>
              <a:off x="10900" y="3191"/>
              <a:ext cx="2141" cy="388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41" h="3885">
                  <a:moveTo>
                    <a:pt x="0" y="0"/>
                  </a:moveTo>
                  <a:lnTo>
                    <a:pt x="2141" y="0"/>
                  </a:lnTo>
                  <a:lnTo>
                    <a:pt x="2141" y="3885"/>
                  </a:lnTo>
                  <a:lnTo>
                    <a:pt x="0" y="3885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9" name="图片 8" descr="未标题-1-2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2550" y="2524"/>
              <a:ext cx="2141" cy="45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41" h="4552">
                  <a:moveTo>
                    <a:pt x="0" y="0"/>
                  </a:moveTo>
                  <a:lnTo>
                    <a:pt x="299" y="0"/>
                  </a:lnTo>
                  <a:lnTo>
                    <a:pt x="299" y="667"/>
                  </a:lnTo>
                  <a:lnTo>
                    <a:pt x="2141" y="667"/>
                  </a:lnTo>
                  <a:lnTo>
                    <a:pt x="2141" y="4552"/>
                  </a:lnTo>
                  <a:lnTo>
                    <a:pt x="0" y="455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110" name="文本框 109"/>
            <p:cNvSpPr txBox="1"/>
            <p:nvPr/>
          </p:nvSpPr>
          <p:spPr>
            <a:xfrm flipH="1">
              <a:off x="4691" y="3723"/>
              <a:ext cx="5197" cy="298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1912年1月13日，孙中山发布《临时大总统关于颁布历书令》，责成内务部编印新历书。随后又规定阳历(公历)1月1日为</a:t>
              </a:r>
              <a:r>
                <a:rPr lang="en-US"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“</a:t>
              </a:r>
              <a:r>
                <a: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新年”，但不叫“元旦”。袁世凯为大总统时期，传统的“元旦”“新年”名称被安置在公历的1月1日这一天。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 flipH="1">
              <a:off x="13067" y="3723"/>
              <a:ext cx="5197" cy="298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1949年9月27日，第一届中国人民政治协商会议，在决定建立中华人民共和国的同时，也决定采用世界通用的公元纪年法，因此便把农历正月初一改称为“春节”，阳历1月1日定为“元旦”，至此，元旦成为全国人民的欢乐节日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元旦的传说</a:t>
              </a:r>
            </a:p>
          </p:txBody>
        </p:sp>
      </p:grpSp>
      <p:pic>
        <p:nvPicPr>
          <p:cNvPr id="7" name="图片 6" descr="未标题-1-3"/>
          <p:cNvPicPr>
            <a:picLocks noChangeAspect="1"/>
          </p:cNvPicPr>
          <p:nvPr/>
        </p:nvPicPr>
        <p:blipFill>
          <a:blip r:embed="rId6">
            <a:lum bright="12000" contrast="-6000"/>
          </a:blip>
          <a:stretch>
            <a:fillRect/>
          </a:stretch>
        </p:blipFill>
        <p:spPr>
          <a:xfrm>
            <a:off x="1148080" y="2283460"/>
            <a:ext cx="4789805" cy="281432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2700000">
            <a:off x="6713855" y="1721485"/>
            <a:ext cx="580390" cy="580390"/>
          </a:xfrm>
          <a:prstGeom prst="rect">
            <a:avLst/>
          </a:prstGeom>
          <a:solidFill>
            <a:srgbClr val="FF6A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pic>
        <p:nvPicPr>
          <p:cNvPr id="9" name="图片 8" descr="templates\docerresourceshop\icons\\32313539383330383b32313539383239393bd6d0b9fabde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2120" y="1809750"/>
            <a:ext cx="403860" cy="403860"/>
          </a:xfrm>
          <a:prstGeom prst="rect">
            <a:avLst/>
          </a:prstGeom>
        </p:spPr>
      </p:pic>
      <p:sp>
        <p:nvSpPr>
          <p:cNvPr id="110" name="文本框 109"/>
          <p:cNvSpPr txBox="1"/>
          <p:nvPr/>
        </p:nvSpPr>
        <p:spPr>
          <a:xfrm flipH="1">
            <a:off x="7569200" y="1205230"/>
            <a:ext cx="3300095" cy="1612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传说在4000多年前远古的尧舜盛世之时，尧天子在位时勤政于民为百姓办了很多好事，很受广大百姓爱戴，但因其子无才不太成器，他没把“天子”的皇位传给自己的儿子，而是传给了品德才能兼备的舜。</a:t>
            </a:r>
          </a:p>
        </p:txBody>
      </p:sp>
      <p:sp>
        <p:nvSpPr>
          <p:cNvPr id="12" name="矩形 11"/>
          <p:cNvSpPr/>
          <p:nvPr/>
        </p:nvSpPr>
        <p:spPr>
          <a:xfrm rot="2700000">
            <a:off x="6758940" y="1766570"/>
            <a:ext cx="490220" cy="490220"/>
          </a:xfrm>
          <a:prstGeom prst="rect">
            <a:avLst/>
          </a:prstGeom>
          <a:noFill/>
          <a:ln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713855" y="3045460"/>
            <a:ext cx="4155440" cy="1008380"/>
            <a:chOff x="9999" y="2920"/>
            <a:chExt cx="6544" cy="1588"/>
          </a:xfrm>
        </p:grpSpPr>
        <p:sp>
          <p:nvSpPr>
            <p:cNvPr id="16" name="矩形 15"/>
            <p:cNvSpPr/>
            <p:nvPr/>
          </p:nvSpPr>
          <p:spPr>
            <a:xfrm rot="2700000">
              <a:off x="9999" y="3257"/>
              <a:ext cx="914" cy="914"/>
            </a:xfrm>
            <a:prstGeom prst="rect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pic>
          <p:nvPicPr>
            <p:cNvPr id="17" name="图片 16" descr="templates\docerresourceshop\icons\\32313539383330383b32313539383239393bd6d0b9fabde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138" y="3396"/>
              <a:ext cx="636" cy="636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 flipH="1">
              <a:off x="11346" y="2920"/>
              <a:ext cx="5197" cy="15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尧对舜说：“你今后一定要把帝位传交好，待我死后也可安心瞑目了。”后来舜把帝位传给了治洪水有功的禹</a:t>
              </a:r>
              <a:r>
                <a:rPr lang="zh-CN"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。</a:t>
              </a:r>
            </a:p>
          </p:txBody>
        </p:sp>
        <p:sp>
          <p:nvSpPr>
            <p:cNvPr id="26" name="矩形 25"/>
            <p:cNvSpPr/>
            <p:nvPr/>
          </p:nvSpPr>
          <p:spPr>
            <a:xfrm rot="2700000">
              <a:off x="10070" y="3328"/>
              <a:ext cx="772" cy="772"/>
            </a:xfrm>
            <a:prstGeom prst="rect">
              <a:avLst/>
            </a:prstGeom>
            <a:noFill/>
            <a:ln>
              <a:solidFill>
                <a:srgbClr val="FEF3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713855" y="4330700"/>
            <a:ext cx="4155440" cy="1304290"/>
            <a:chOff x="9999" y="2687"/>
            <a:chExt cx="6544" cy="2054"/>
          </a:xfrm>
        </p:grpSpPr>
        <p:sp>
          <p:nvSpPr>
            <p:cNvPr id="28" name="矩形 27"/>
            <p:cNvSpPr/>
            <p:nvPr/>
          </p:nvSpPr>
          <p:spPr>
            <a:xfrm rot="2700000">
              <a:off x="9999" y="3257"/>
              <a:ext cx="914" cy="914"/>
            </a:xfrm>
            <a:prstGeom prst="rect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pic>
          <p:nvPicPr>
            <p:cNvPr id="29" name="图片 28" descr="templates\docerresourceshop\icons\\32313539383330383b32313539383239393bd6d0b9fabde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138" y="3396"/>
              <a:ext cx="636" cy="636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 flipH="1">
              <a:off x="11346" y="2687"/>
              <a:ext cx="5197" cy="20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之后</a:t>
              </a:r>
              <a:r>
                <a: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人们把尧死后，舜帝祭祀天地和先帝尧的那一天，当作一年的开始之日，把正月初一称为“元旦”，或“元正”，这就是古代的元旦。</a:t>
              </a:r>
            </a:p>
          </p:txBody>
        </p:sp>
        <p:sp>
          <p:nvSpPr>
            <p:cNvPr id="31" name="矩形 30"/>
            <p:cNvSpPr/>
            <p:nvPr/>
          </p:nvSpPr>
          <p:spPr>
            <a:xfrm rot="2700000">
              <a:off x="10070" y="3328"/>
              <a:ext cx="772" cy="772"/>
            </a:xfrm>
            <a:prstGeom prst="rect">
              <a:avLst/>
            </a:prstGeom>
            <a:noFill/>
            <a:ln>
              <a:solidFill>
                <a:srgbClr val="FEF3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元旦的习俗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61720" y="1610678"/>
            <a:ext cx="10241915" cy="3840163"/>
            <a:chOff x="1652" y="2342"/>
            <a:chExt cx="16129" cy="6048"/>
          </a:xfrm>
        </p:grpSpPr>
        <p:pic>
          <p:nvPicPr>
            <p:cNvPr id="8" name="图片 7" descr="未标题-1-1"/>
            <p:cNvPicPr>
              <a:picLocks noChangeAspect="1"/>
            </p:cNvPicPr>
            <p:nvPr/>
          </p:nvPicPr>
          <p:blipFill>
            <a:blip r:embed="rId6">
              <a:lum bright="6000"/>
            </a:blip>
            <a:stretch>
              <a:fillRect/>
            </a:stretch>
          </p:blipFill>
          <p:spPr>
            <a:xfrm rot="19860000" flipH="1" flipV="1">
              <a:off x="8749" y="2342"/>
              <a:ext cx="5879" cy="3007"/>
            </a:xfrm>
            <a:prstGeom prst="rect">
              <a:avLst/>
            </a:prstGeom>
          </p:spPr>
        </p:pic>
        <p:grpSp>
          <p:nvGrpSpPr>
            <p:cNvPr id="16" name="组合 15"/>
            <p:cNvGrpSpPr/>
            <p:nvPr/>
          </p:nvGrpSpPr>
          <p:grpSpPr>
            <a:xfrm>
              <a:off x="1652" y="2411"/>
              <a:ext cx="16129" cy="5979"/>
              <a:chOff x="1644" y="2337"/>
              <a:chExt cx="16129" cy="5979"/>
            </a:xfrm>
          </p:grpSpPr>
          <p:pic>
            <p:nvPicPr>
              <p:cNvPr id="6" name="图片 5" descr="未标题-1-1"/>
              <p:cNvPicPr>
                <a:picLocks noChangeAspect="1"/>
              </p:cNvPicPr>
              <p:nvPr/>
            </p:nvPicPr>
            <p:blipFill>
              <a:blip r:embed="rId6">
                <a:lum bright="6000"/>
              </a:blip>
              <a:stretch>
                <a:fillRect/>
              </a:stretch>
            </p:blipFill>
            <p:spPr>
              <a:xfrm rot="20160000">
                <a:off x="5294" y="5966"/>
                <a:ext cx="4592" cy="2350"/>
              </a:xfrm>
              <a:prstGeom prst="rect">
                <a:avLst/>
              </a:prstGeom>
            </p:spPr>
          </p:pic>
          <p:grpSp>
            <p:nvGrpSpPr>
              <p:cNvPr id="10" name="组合 9"/>
              <p:cNvGrpSpPr/>
              <p:nvPr/>
            </p:nvGrpSpPr>
            <p:grpSpPr>
              <a:xfrm>
                <a:off x="1644" y="2337"/>
                <a:ext cx="5909" cy="3566"/>
                <a:chOff x="1732" y="2028"/>
                <a:chExt cx="5909" cy="3566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 rot="2700000">
                  <a:off x="1732" y="3623"/>
                  <a:ext cx="376" cy="376"/>
                </a:xfrm>
                <a:prstGeom prst="roundRect">
                  <a:avLst/>
                </a:prstGeom>
                <a:solidFill>
                  <a:srgbClr val="FF6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  <p:sp>
              <p:nvSpPr>
                <p:cNvPr id="110" name="文本框 109"/>
                <p:cNvSpPr txBox="1"/>
                <p:nvPr/>
              </p:nvSpPr>
              <p:spPr>
                <a:xfrm flipH="1">
                  <a:off x="2445" y="2028"/>
                  <a:ext cx="5197" cy="3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中国古代的元旦，即现代中国所称之</a:t>
                  </a:r>
                  <a:r>
                    <a:rPr lang="en-US" alt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“</a:t>
                  </a: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春节</a:t>
                  </a:r>
                  <a:r>
                    <a:rPr lang="en-US" alt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”</a:t>
                  </a: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的习俗。现代中国的元旦，根据中国政府将其列入法定假日，成为全国人民的节日。一般来说，除去连续休息三天，现代中国对元旦的庆祝较之春节，重要性要小的多。一般机关、企业会举行年终庆典活动，但民间活动很少。</a:t>
                  </a: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1672" y="5507"/>
                <a:ext cx="6101" cy="2188"/>
                <a:chOff x="1732" y="2718"/>
                <a:chExt cx="6101" cy="2188"/>
              </a:xfrm>
            </p:grpSpPr>
            <p:sp>
              <p:nvSpPr>
                <p:cNvPr id="12" name="圆角矩形 11"/>
                <p:cNvSpPr/>
                <p:nvPr/>
              </p:nvSpPr>
              <p:spPr>
                <a:xfrm rot="2700000">
                  <a:off x="1732" y="3623"/>
                  <a:ext cx="376" cy="376"/>
                </a:xfrm>
                <a:prstGeom prst="roundRect">
                  <a:avLst/>
                </a:prstGeom>
                <a:solidFill>
                  <a:srgbClr val="FF6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 flipH="1">
                  <a:off x="2445" y="2718"/>
                  <a:ext cx="5388" cy="21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西方元旦：西元前</a:t>
                  </a:r>
                  <a:r>
                    <a:rPr lang="en-US" alt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46</a:t>
                  </a: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年，古罗马凯撒把这一天定为西历新年的开始，为了祝福双面神</a:t>
                  </a:r>
                  <a:r>
                    <a:rPr lang="en-US" alt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“Janus”</a:t>
                  </a: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这位罗马神话中的门神。</a:t>
                  </a:r>
                  <a:r>
                    <a:rPr lang="en-US" alt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“Janus”</a:t>
                  </a: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后来也演化为英文一月</a:t>
                  </a:r>
                  <a:r>
                    <a:rPr lang="en-US" alt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“January”</a:t>
                  </a: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这个词。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" name="图片 1" descr="未标题-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224" y="5535"/>
              <a:ext cx="518" cy="581"/>
            </a:xfrm>
            <a:custGeom>
              <a:avLst/>
              <a:gdLst>
                <a:gd name="connsiteX0" fmla="*/ 301 w 517"/>
                <a:gd name="connsiteY0" fmla="*/ 233 h 580"/>
                <a:gd name="connsiteX1" fmla="*/ 238 w 517"/>
                <a:gd name="connsiteY1" fmla="*/ 422 h 580"/>
                <a:gd name="connsiteX2" fmla="*/ 7 w 517"/>
                <a:gd name="connsiteY2" fmla="*/ 507 h 580"/>
                <a:gd name="connsiteX3" fmla="*/ 139 w 517"/>
                <a:gd name="connsiteY3" fmla="*/ 576 h 580"/>
                <a:gd name="connsiteX4" fmla="*/ 465 w 517"/>
                <a:gd name="connsiteY4" fmla="*/ 471 h 580"/>
                <a:gd name="connsiteX5" fmla="*/ 489 w 517"/>
                <a:gd name="connsiteY5" fmla="*/ 29 h 580"/>
                <a:gd name="connsiteX6" fmla="*/ 344 w 517"/>
                <a:gd name="connsiteY6" fmla="*/ 71 h 580"/>
                <a:gd name="connsiteX7" fmla="*/ 301 w 517"/>
                <a:gd name="connsiteY7" fmla="*/ 233 h 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8" h="581">
                  <a:moveTo>
                    <a:pt x="301" y="233"/>
                  </a:moveTo>
                  <a:cubicBezTo>
                    <a:pt x="285" y="284"/>
                    <a:pt x="304" y="378"/>
                    <a:pt x="238" y="422"/>
                  </a:cubicBezTo>
                  <a:cubicBezTo>
                    <a:pt x="172" y="466"/>
                    <a:pt x="35" y="476"/>
                    <a:pt x="7" y="507"/>
                  </a:cubicBezTo>
                  <a:cubicBezTo>
                    <a:pt x="-21" y="538"/>
                    <a:pt x="38" y="563"/>
                    <a:pt x="139" y="576"/>
                  </a:cubicBezTo>
                  <a:cubicBezTo>
                    <a:pt x="239" y="589"/>
                    <a:pt x="387" y="581"/>
                    <a:pt x="465" y="471"/>
                  </a:cubicBezTo>
                  <a:cubicBezTo>
                    <a:pt x="543" y="361"/>
                    <a:pt x="520" y="98"/>
                    <a:pt x="489" y="29"/>
                  </a:cubicBezTo>
                  <a:cubicBezTo>
                    <a:pt x="458" y="-40"/>
                    <a:pt x="382" y="30"/>
                    <a:pt x="344" y="71"/>
                  </a:cubicBezTo>
                  <a:cubicBezTo>
                    <a:pt x="306" y="112"/>
                    <a:pt x="317" y="183"/>
                    <a:pt x="301" y="233"/>
                  </a:cubicBezTo>
                  <a:close/>
                </a:path>
              </a:pathLst>
            </a:custGeom>
            <a:gradFill>
              <a:gsLst>
                <a:gs pos="0">
                  <a:srgbClr val="F6A932"/>
                </a:gs>
                <a:gs pos="100000">
                  <a:srgbClr val="EA752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89275" y="2522855"/>
            <a:ext cx="69469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元旦各国风情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4593273" y="3331845"/>
            <a:ext cx="3938905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单击此处输入你的正文，文字是您思想的提炼，请尽量言简意赅的阐述观点。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5636260" y="4188460"/>
            <a:ext cx="1852930" cy="323850"/>
          </a:xfrm>
          <a:prstGeom prst="roundRect">
            <a:avLst>
              <a:gd name="adj" fmla="val 50000"/>
            </a:avLst>
          </a:prstGeom>
          <a:solidFill>
            <a:srgbClr val="BD3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D3625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13705" y="4182110"/>
            <a:ext cx="209867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第二部分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53990" y="2224405"/>
            <a:ext cx="261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HAPPY NEW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元旦各国风情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363278" y="1806575"/>
            <a:ext cx="5465445" cy="3321050"/>
            <a:chOff x="5038" y="2628"/>
            <a:chExt cx="9124" cy="5544"/>
          </a:xfrm>
        </p:grpSpPr>
        <p:sp>
          <p:nvSpPr>
            <p:cNvPr id="14" name="任意多边形 13"/>
            <p:cNvSpPr/>
            <p:nvPr/>
          </p:nvSpPr>
          <p:spPr>
            <a:xfrm>
              <a:off x="5038" y="2628"/>
              <a:ext cx="9124" cy="554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607" h="5169">
                  <a:moveTo>
                    <a:pt x="837" y="0"/>
                  </a:moveTo>
                  <a:lnTo>
                    <a:pt x="7770" y="0"/>
                  </a:lnTo>
                  <a:lnTo>
                    <a:pt x="7768" y="11"/>
                  </a:lnTo>
                  <a:cubicBezTo>
                    <a:pt x="7759" y="55"/>
                    <a:pt x="7755" y="100"/>
                    <a:pt x="7755" y="146"/>
                  </a:cubicBezTo>
                  <a:cubicBezTo>
                    <a:pt x="7755" y="513"/>
                    <a:pt x="8053" y="812"/>
                    <a:pt x="8421" y="812"/>
                  </a:cubicBezTo>
                  <a:cubicBezTo>
                    <a:pt x="8484" y="812"/>
                    <a:pt x="8545" y="803"/>
                    <a:pt x="8603" y="786"/>
                  </a:cubicBezTo>
                  <a:lnTo>
                    <a:pt x="8607" y="785"/>
                  </a:lnTo>
                  <a:lnTo>
                    <a:pt x="8607" y="4385"/>
                  </a:lnTo>
                  <a:lnTo>
                    <a:pt x="8603" y="4384"/>
                  </a:lnTo>
                  <a:cubicBezTo>
                    <a:pt x="8545" y="4367"/>
                    <a:pt x="8484" y="4359"/>
                    <a:pt x="8421" y="4359"/>
                  </a:cubicBezTo>
                  <a:cubicBezTo>
                    <a:pt x="8053" y="4359"/>
                    <a:pt x="7755" y="4657"/>
                    <a:pt x="7755" y="5025"/>
                  </a:cubicBezTo>
                  <a:cubicBezTo>
                    <a:pt x="7755" y="5070"/>
                    <a:pt x="7759" y="5115"/>
                    <a:pt x="7768" y="5159"/>
                  </a:cubicBezTo>
                  <a:lnTo>
                    <a:pt x="7770" y="5169"/>
                  </a:lnTo>
                  <a:lnTo>
                    <a:pt x="837" y="5169"/>
                  </a:lnTo>
                  <a:lnTo>
                    <a:pt x="839" y="5159"/>
                  </a:lnTo>
                  <a:cubicBezTo>
                    <a:pt x="848" y="5115"/>
                    <a:pt x="853" y="5070"/>
                    <a:pt x="853" y="5025"/>
                  </a:cubicBezTo>
                  <a:cubicBezTo>
                    <a:pt x="853" y="4657"/>
                    <a:pt x="554" y="4359"/>
                    <a:pt x="187" y="4359"/>
                  </a:cubicBezTo>
                  <a:cubicBezTo>
                    <a:pt x="123" y="4359"/>
                    <a:pt x="62" y="4367"/>
                    <a:pt x="4" y="4384"/>
                  </a:cubicBezTo>
                  <a:lnTo>
                    <a:pt x="0" y="4385"/>
                  </a:lnTo>
                  <a:lnTo>
                    <a:pt x="0" y="785"/>
                  </a:lnTo>
                  <a:lnTo>
                    <a:pt x="4" y="786"/>
                  </a:lnTo>
                  <a:cubicBezTo>
                    <a:pt x="62" y="803"/>
                    <a:pt x="123" y="812"/>
                    <a:pt x="187" y="812"/>
                  </a:cubicBezTo>
                  <a:cubicBezTo>
                    <a:pt x="554" y="812"/>
                    <a:pt x="853" y="513"/>
                    <a:pt x="853" y="146"/>
                  </a:cubicBezTo>
                  <a:cubicBezTo>
                    <a:pt x="853" y="100"/>
                    <a:pt x="848" y="55"/>
                    <a:pt x="839" y="11"/>
                  </a:cubicBezTo>
                  <a:lnTo>
                    <a:pt x="837" y="0"/>
                  </a:lnTo>
                  <a:close/>
                </a:path>
              </a:pathLst>
            </a:custGeom>
            <a:gradFill rotWithShape="1">
              <a:gsLst>
                <a:gs pos="0">
                  <a:srgbClr val="F5C16B"/>
                </a:gs>
                <a:gs pos="97000">
                  <a:srgbClr val="FF6A48"/>
                </a:gs>
              </a:gsLst>
              <a:lin ang="5400000" scaled="0"/>
            </a:gra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5297" y="2816"/>
              <a:ext cx="8607" cy="516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607" h="5169">
                  <a:moveTo>
                    <a:pt x="837" y="0"/>
                  </a:moveTo>
                  <a:lnTo>
                    <a:pt x="7770" y="0"/>
                  </a:lnTo>
                  <a:lnTo>
                    <a:pt x="7768" y="11"/>
                  </a:lnTo>
                  <a:cubicBezTo>
                    <a:pt x="7759" y="55"/>
                    <a:pt x="7755" y="100"/>
                    <a:pt x="7755" y="146"/>
                  </a:cubicBezTo>
                  <a:cubicBezTo>
                    <a:pt x="7755" y="513"/>
                    <a:pt x="8053" y="812"/>
                    <a:pt x="8421" y="812"/>
                  </a:cubicBezTo>
                  <a:cubicBezTo>
                    <a:pt x="8484" y="812"/>
                    <a:pt x="8545" y="803"/>
                    <a:pt x="8603" y="786"/>
                  </a:cubicBezTo>
                  <a:lnTo>
                    <a:pt x="8607" y="785"/>
                  </a:lnTo>
                  <a:lnTo>
                    <a:pt x="8607" y="4385"/>
                  </a:lnTo>
                  <a:lnTo>
                    <a:pt x="8603" y="4384"/>
                  </a:lnTo>
                  <a:cubicBezTo>
                    <a:pt x="8545" y="4367"/>
                    <a:pt x="8484" y="4359"/>
                    <a:pt x="8421" y="4359"/>
                  </a:cubicBezTo>
                  <a:cubicBezTo>
                    <a:pt x="8053" y="4359"/>
                    <a:pt x="7755" y="4657"/>
                    <a:pt x="7755" y="5025"/>
                  </a:cubicBezTo>
                  <a:cubicBezTo>
                    <a:pt x="7755" y="5070"/>
                    <a:pt x="7759" y="5115"/>
                    <a:pt x="7768" y="5159"/>
                  </a:cubicBezTo>
                  <a:lnTo>
                    <a:pt x="7770" y="5169"/>
                  </a:lnTo>
                  <a:lnTo>
                    <a:pt x="837" y="5169"/>
                  </a:lnTo>
                  <a:lnTo>
                    <a:pt x="839" y="5159"/>
                  </a:lnTo>
                  <a:cubicBezTo>
                    <a:pt x="848" y="5115"/>
                    <a:pt x="853" y="5070"/>
                    <a:pt x="853" y="5025"/>
                  </a:cubicBezTo>
                  <a:cubicBezTo>
                    <a:pt x="853" y="4657"/>
                    <a:pt x="554" y="4359"/>
                    <a:pt x="187" y="4359"/>
                  </a:cubicBezTo>
                  <a:cubicBezTo>
                    <a:pt x="123" y="4359"/>
                    <a:pt x="62" y="4367"/>
                    <a:pt x="4" y="4384"/>
                  </a:cubicBezTo>
                  <a:lnTo>
                    <a:pt x="0" y="4385"/>
                  </a:lnTo>
                  <a:lnTo>
                    <a:pt x="0" y="785"/>
                  </a:lnTo>
                  <a:lnTo>
                    <a:pt x="4" y="786"/>
                  </a:lnTo>
                  <a:cubicBezTo>
                    <a:pt x="62" y="803"/>
                    <a:pt x="123" y="812"/>
                    <a:pt x="187" y="812"/>
                  </a:cubicBezTo>
                  <a:cubicBezTo>
                    <a:pt x="554" y="812"/>
                    <a:pt x="853" y="513"/>
                    <a:pt x="853" y="146"/>
                  </a:cubicBezTo>
                  <a:cubicBezTo>
                    <a:pt x="853" y="100"/>
                    <a:pt x="848" y="55"/>
                    <a:pt x="839" y="11"/>
                  </a:cubicBezTo>
                  <a:lnTo>
                    <a:pt x="837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19050">
              <a:solidFill>
                <a:srgbClr val="FEF3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91553" y="1958340"/>
            <a:ext cx="10208895" cy="3208020"/>
            <a:chOff x="1484" y="3024"/>
            <a:chExt cx="16077" cy="5052"/>
          </a:xfrm>
        </p:grpSpPr>
        <p:grpSp>
          <p:nvGrpSpPr>
            <p:cNvPr id="30" name="组合 29"/>
            <p:cNvGrpSpPr/>
            <p:nvPr/>
          </p:nvGrpSpPr>
          <p:grpSpPr>
            <a:xfrm>
              <a:off x="1484" y="3024"/>
              <a:ext cx="3270" cy="5052"/>
              <a:chOff x="1484" y="2962"/>
              <a:chExt cx="3270" cy="5052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2662" y="2962"/>
                <a:ext cx="914" cy="914"/>
                <a:chOff x="10573" y="2711"/>
                <a:chExt cx="914" cy="914"/>
              </a:xfrm>
            </p:grpSpPr>
            <p:sp>
              <p:nvSpPr>
                <p:cNvPr id="17" name="矩形 16"/>
                <p:cNvSpPr/>
                <p:nvPr/>
              </p:nvSpPr>
              <p:spPr>
                <a:xfrm rot="2700000">
                  <a:off x="10573" y="2711"/>
                  <a:ext cx="914" cy="914"/>
                </a:xfrm>
                <a:prstGeom prst="rect">
                  <a:avLst/>
                </a:prstGeom>
                <a:solidFill>
                  <a:srgbClr val="FF6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  <p:pic>
              <p:nvPicPr>
                <p:cNvPr id="20" name="图片 19" descr="templates\docerresourceshop\icons\\32313539383330383b32313539383239393bd6d0b9fabde1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712" y="2850"/>
                  <a:ext cx="636" cy="636"/>
                </a:xfrm>
                <a:prstGeom prst="rect">
                  <a:avLst/>
                </a:prstGeom>
              </p:spPr>
            </p:pic>
            <p:sp>
              <p:nvSpPr>
                <p:cNvPr id="26" name="矩形 25"/>
                <p:cNvSpPr/>
                <p:nvPr/>
              </p:nvSpPr>
              <p:spPr>
                <a:xfrm rot="2700000">
                  <a:off x="10644" y="2782"/>
                  <a:ext cx="772" cy="772"/>
                </a:xfrm>
                <a:prstGeom prst="rect">
                  <a:avLst/>
                </a:prstGeom>
                <a:noFill/>
                <a:ln>
                  <a:solidFill>
                    <a:srgbClr val="FEF3E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1484" y="4164"/>
                <a:ext cx="3270" cy="3851"/>
                <a:chOff x="3120" y="3145"/>
                <a:chExt cx="3270" cy="3851"/>
              </a:xfrm>
            </p:grpSpPr>
            <p:sp>
              <p:nvSpPr>
                <p:cNvPr id="110" name="文本框 109"/>
                <p:cNvSpPr txBox="1"/>
                <p:nvPr/>
              </p:nvSpPr>
              <p:spPr>
                <a:xfrm flipH="1">
                  <a:off x="3120" y="3847"/>
                  <a:ext cx="3270" cy="31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新一年到来，蒙古老人会装扮成牧羊人的样子，穿着毛绒的皮外套，头戴一顶皮帽，手拿一根鞭子，不停地把鞭子在空中抽得啪啪响，以示驱邪祝福。</a:t>
                  </a: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 flipH="1">
                  <a:off x="3363" y="3145"/>
                  <a:ext cx="2783" cy="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sz="2000" b="1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元旦在蒙古</a:t>
                  </a:r>
                </a:p>
              </p:txBody>
            </p:sp>
          </p:grpSp>
        </p:grpSp>
        <p:grpSp>
          <p:nvGrpSpPr>
            <p:cNvPr id="31" name="组合 30"/>
            <p:cNvGrpSpPr/>
            <p:nvPr/>
          </p:nvGrpSpPr>
          <p:grpSpPr>
            <a:xfrm>
              <a:off x="14291" y="3024"/>
              <a:ext cx="3270" cy="4814"/>
              <a:chOff x="1484" y="2962"/>
              <a:chExt cx="3270" cy="4814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2662" y="2962"/>
                <a:ext cx="914" cy="914"/>
                <a:chOff x="10573" y="2711"/>
                <a:chExt cx="914" cy="914"/>
              </a:xfrm>
            </p:grpSpPr>
            <p:sp>
              <p:nvSpPr>
                <p:cNvPr id="33" name="矩形 32"/>
                <p:cNvSpPr/>
                <p:nvPr/>
              </p:nvSpPr>
              <p:spPr>
                <a:xfrm rot="2700000">
                  <a:off x="10573" y="2711"/>
                  <a:ext cx="914" cy="914"/>
                </a:xfrm>
                <a:prstGeom prst="rect">
                  <a:avLst/>
                </a:prstGeom>
                <a:solidFill>
                  <a:srgbClr val="FF6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  <p:pic>
              <p:nvPicPr>
                <p:cNvPr id="34" name="图片 33" descr="templates\docerresourceshop\icons\\32313539383330383b32313539383239393bd6d0b9fabde1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712" y="2850"/>
                  <a:ext cx="636" cy="636"/>
                </a:xfrm>
                <a:prstGeom prst="rect">
                  <a:avLst/>
                </a:prstGeom>
              </p:spPr>
            </p:pic>
            <p:sp>
              <p:nvSpPr>
                <p:cNvPr id="35" name="矩形 34"/>
                <p:cNvSpPr/>
                <p:nvPr/>
              </p:nvSpPr>
              <p:spPr>
                <a:xfrm rot="2700000">
                  <a:off x="10644" y="2782"/>
                  <a:ext cx="772" cy="772"/>
                </a:xfrm>
                <a:prstGeom prst="rect">
                  <a:avLst/>
                </a:prstGeom>
                <a:noFill/>
                <a:ln>
                  <a:solidFill>
                    <a:srgbClr val="FEF3E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1484" y="4164"/>
                <a:ext cx="3270" cy="3612"/>
                <a:chOff x="3120" y="3145"/>
                <a:chExt cx="3270" cy="3612"/>
              </a:xfrm>
            </p:grpSpPr>
            <p:sp>
              <p:nvSpPr>
                <p:cNvPr id="37" name="文本框 36"/>
                <p:cNvSpPr txBox="1"/>
                <p:nvPr/>
              </p:nvSpPr>
              <p:spPr>
                <a:xfrm flipH="1">
                  <a:off x="3120" y="3847"/>
                  <a:ext cx="3270" cy="2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元旦起个大早，高高兴兴的从长辈那里拿“红包（压岁钱）”。新年里</a:t>
                  </a:r>
                  <a:r>
                    <a:rPr lang="zh-CN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有</a:t>
                  </a:r>
                  <a:r>
                    <a:rPr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舞狮、舞龙队沿街表演。男女老幼穿着盛装，带上礼品走访亲友。</a:t>
                  </a: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 flipH="1">
                  <a:off x="3363" y="3145"/>
                  <a:ext cx="2783" cy="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sz="2000" b="1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元旦在新加坡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元旦各国风情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14" name="图片 13" descr="未标题-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" y="1144270"/>
            <a:ext cx="3679825" cy="4664710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722620" y="1351915"/>
            <a:ext cx="5307965" cy="4249420"/>
            <a:chOff x="9867" y="2820"/>
            <a:chExt cx="8359" cy="6692"/>
          </a:xfrm>
        </p:grpSpPr>
        <p:sp>
          <p:nvSpPr>
            <p:cNvPr id="32" name="圆角矩形 31"/>
            <p:cNvSpPr/>
            <p:nvPr/>
          </p:nvSpPr>
          <p:spPr>
            <a:xfrm rot="2700000">
              <a:off x="9867" y="3153"/>
              <a:ext cx="376" cy="376"/>
            </a:xfrm>
            <a:prstGeom prst="roundRect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0506" y="2820"/>
              <a:ext cx="7720" cy="3335"/>
              <a:chOff x="10896" y="2640"/>
              <a:chExt cx="7720" cy="3335"/>
            </a:xfrm>
          </p:grpSpPr>
          <p:sp>
            <p:nvSpPr>
              <p:cNvPr id="110" name="文本框 109"/>
              <p:cNvSpPr txBox="1"/>
              <p:nvPr/>
            </p:nvSpPr>
            <p:spPr>
              <a:xfrm flipH="1">
                <a:off x="10896" y="3342"/>
                <a:ext cx="7720" cy="26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巴西人在元旦这天，高举火把，蜂拥登山。人们争先恐后地寻找那象征幸福的金桦果。只有不畏艰险的人，才能找到这种罕见的果子。他们称之为“寻福”。巴西农村有一个独特的风俗习惯——便是互相揪耳，人们在元旦见面时，一定要相互使劲揪住对方的耳朵，表示祝福。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 flipH="1">
                <a:off x="10896" y="2640"/>
                <a:ext cx="2783" cy="90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sz="2000" b="1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元旦在巴西</a:t>
                </a:r>
              </a:p>
            </p:txBody>
          </p:sp>
        </p:grpSp>
        <p:sp>
          <p:nvSpPr>
            <p:cNvPr id="20" name="圆角矩形 19"/>
            <p:cNvSpPr/>
            <p:nvPr/>
          </p:nvSpPr>
          <p:spPr>
            <a:xfrm rot="2700000">
              <a:off x="9868" y="6586"/>
              <a:ext cx="376" cy="376"/>
            </a:xfrm>
            <a:prstGeom prst="roundRect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0507" y="6253"/>
              <a:ext cx="7572" cy="3259"/>
              <a:chOff x="10896" y="2640"/>
              <a:chExt cx="7572" cy="3259"/>
            </a:xfrm>
          </p:grpSpPr>
          <p:sp>
            <p:nvSpPr>
              <p:cNvPr id="27" name="文本框 26"/>
              <p:cNvSpPr txBox="1"/>
              <p:nvPr/>
            </p:nvSpPr>
            <p:spPr>
              <a:xfrm flipH="1">
                <a:off x="10896" y="3342"/>
                <a:ext cx="7572" cy="255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法国以酒来庆祝新年，人们从除夕起开始狂欢痛饮，直到1月3日才终止。法国人认为元旦这一天的天气预示着新的一年的年景。元旦清晨他们就上街看风向来占卜：刮南风，预兆风调雨顺，这一年会是平安而炎热；刮西风，有一个捕鱼和挤奶的丰收年；刮东风，水果将高产；刮北风，则是欠收年。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 flipH="1">
                <a:off x="10896" y="2640"/>
                <a:ext cx="2783" cy="90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sz="2000" b="1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元旦在法国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元旦各国风情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" name="横卷形 2"/>
          <p:cNvSpPr/>
          <p:nvPr/>
        </p:nvSpPr>
        <p:spPr>
          <a:xfrm>
            <a:off x="1373188" y="1572895"/>
            <a:ext cx="9445625" cy="3712210"/>
          </a:xfrm>
          <a:prstGeom prst="horizontalScroll">
            <a:avLst>
              <a:gd name="adj" fmla="val 11418"/>
            </a:avLst>
          </a:prstGeom>
          <a:gradFill>
            <a:gsLst>
              <a:gs pos="0">
                <a:srgbClr val="F5C16B"/>
              </a:gs>
              <a:gs pos="97000">
                <a:srgbClr val="FF6A48"/>
              </a:gs>
            </a:gsLst>
            <a:lin ang="5400000" scaled="0"/>
          </a:gradFill>
          <a:ln w="1905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35505" y="1997075"/>
            <a:ext cx="8016240" cy="2730500"/>
            <a:chOff x="3780" y="3184"/>
            <a:chExt cx="12624" cy="4300"/>
          </a:xfrm>
        </p:grpSpPr>
        <p:sp>
          <p:nvSpPr>
            <p:cNvPr id="110" name="文本框 109"/>
            <p:cNvSpPr txBox="1"/>
            <p:nvPr/>
          </p:nvSpPr>
          <p:spPr>
            <a:xfrm flipH="1">
              <a:off x="3780" y="3886"/>
              <a:ext cx="12625" cy="206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日本每年的12月29日~1月3日为全国休假日。日本人把12月31日称之为“大晦日”，也就是除夕日。除夕晚上，日本人称之为“除夜”，除夜时他们祈求神灵托福，送走烦恼的旧年，迎来美好的新年，称之为“初诣”。除夕午夜，各处城乡庙宇分别敲钟108下，以此驱除邪恶，日本人则静坐聆听“除夜之钟”，钟声停歇就意味新年的来到。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 flipH="1">
              <a:off x="3780" y="3184"/>
              <a:ext cx="5197" cy="9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sz="2000" b="1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元旦在日本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 flipH="1">
              <a:off x="3780" y="5940"/>
              <a:ext cx="12625" cy="154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新年里，日本各户门口上方往往都拉起一条草绳或用草绳编的圆圈，称为“注连绳”或“注连饰”。有的还摆上一些松竹，叫做“门松”。许多公司大厦门口和街头巷口都用松竹梅搭起设计新颖、别具一格的牌楼，以示庆贺。人们还将鹤、龟等象征长寿的动物剪纸贴在住宅内外，祈祷平安</a:t>
              </a:r>
              <a:r>
                <a:rPr lang="zh-CN" sz="1300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" name="图片 1" descr="未标题-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224" y="5535"/>
              <a:ext cx="518" cy="581"/>
            </a:xfrm>
            <a:custGeom>
              <a:avLst/>
              <a:gdLst>
                <a:gd name="connsiteX0" fmla="*/ 301 w 517"/>
                <a:gd name="connsiteY0" fmla="*/ 233 h 580"/>
                <a:gd name="connsiteX1" fmla="*/ 238 w 517"/>
                <a:gd name="connsiteY1" fmla="*/ 422 h 580"/>
                <a:gd name="connsiteX2" fmla="*/ 7 w 517"/>
                <a:gd name="connsiteY2" fmla="*/ 507 h 580"/>
                <a:gd name="connsiteX3" fmla="*/ 139 w 517"/>
                <a:gd name="connsiteY3" fmla="*/ 576 h 580"/>
                <a:gd name="connsiteX4" fmla="*/ 465 w 517"/>
                <a:gd name="connsiteY4" fmla="*/ 471 h 580"/>
                <a:gd name="connsiteX5" fmla="*/ 489 w 517"/>
                <a:gd name="connsiteY5" fmla="*/ 29 h 580"/>
                <a:gd name="connsiteX6" fmla="*/ 344 w 517"/>
                <a:gd name="connsiteY6" fmla="*/ 71 h 580"/>
                <a:gd name="connsiteX7" fmla="*/ 301 w 517"/>
                <a:gd name="connsiteY7" fmla="*/ 233 h 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8" h="581">
                  <a:moveTo>
                    <a:pt x="301" y="233"/>
                  </a:moveTo>
                  <a:cubicBezTo>
                    <a:pt x="285" y="284"/>
                    <a:pt x="304" y="378"/>
                    <a:pt x="238" y="422"/>
                  </a:cubicBezTo>
                  <a:cubicBezTo>
                    <a:pt x="172" y="466"/>
                    <a:pt x="35" y="476"/>
                    <a:pt x="7" y="507"/>
                  </a:cubicBezTo>
                  <a:cubicBezTo>
                    <a:pt x="-21" y="538"/>
                    <a:pt x="38" y="563"/>
                    <a:pt x="139" y="576"/>
                  </a:cubicBezTo>
                  <a:cubicBezTo>
                    <a:pt x="239" y="589"/>
                    <a:pt x="387" y="581"/>
                    <a:pt x="465" y="471"/>
                  </a:cubicBezTo>
                  <a:cubicBezTo>
                    <a:pt x="543" y="361"/>
                    <a:pt x="520" y="98"/>
                    <a:pt x="489" y="29"/>
                  </a:cubicBezTo>
                  <a:cubicBezTo>
                    <a:pt x="458" y="-40"/>
                    <a:pt x="382" y="30"/>
                    <a:pt x="344" y="71"/>
                  </a:cubicBezTo>
                  <a:cubicBezTo>
                    <a:pt x="306" y="112"/>
                    <a:pt x="317" y="183"/>
                    <a:pt x="301" y="233"/>
                  </a:cubicBezTo>
                  <a:close/>
                </a:path>
              </a:pathLst>
            </a:custGeom>
            <a:gradFill>
              <a:gsLst>
                <a:gs pos="0">
                  <a:srgbClr val="F6A932"/>
                </a:gs>
                <a:gs pos="100000">
                  <a:srgbClr val="EA752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89275" y="2522855"/>
            <a:ext cx="69469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元旦相关诗话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4593273" y="3331845"/>
            <a:ext cx="3938905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单击此处输入你的正文，文字是您思想的提炼，请尽量言简意赅的阐述观点。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5636260" y="4188460"/>
            <a:ext cx="1852930" cy="323850"/>
          </a:xfrm>
          <a:prstGeom prst="roundRect">
            <a:avLst>
              <a:gd name="adj" fmla="val 50000"/>
            </a:avLst>
          </a:prstGeom>
          <a:solidFill>
            <a:srgbClr val="BD3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D3625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13705" y="4182110"/>
            <a:ext cx="209867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第三部分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53990" y="2224405"/>
            <a:ext cx="261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HAPPY NEW YEAR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元旦相关诗话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 descr="templates\picture_hover\&amp;pky8989333175&amp;"/>
          <p:cNvPicPr>
            <a:picLocks noChangeAspect="1"/>
          </p:cNvPicPr>
          <p:nvPr/>
        </p:nvPicPr>
        <p:blipFill>
          <a:blip r:embed="rId5">
            <a:lum bright="-6000"/>
          </a:blip>
          <a:srcRect l="38898" t="17704" r="2176" b="33676"/>
          <a:stretch>
            <a:fillRect/>
          </a:stretch>
        </p:blipFill>
        <p:spPr>
          <a:xfrm>
            <a:off x="4075430" y="1799908"/>
            <a:ext cx="4041140" cy="3334385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975043" y="1833245"/>
            <a:ext cx="10318115" cy="3362960"/>
            <a:chOff x="1710" y="2926"/>
            <a:chExt cx="16249" cy="5296"/>
          </a:xfrm>
        </p:grpSpPr>
        <p:grpSp>
          <p:nvGrpSpPr>
            <p:cNvPr id="12" name="组合 11"/>
            <p:cNvGrpSpPr/>
            <p:nvPr/>
          </p:nvGrpSpPr>
          <p:grpSpPr>
            <a:xfrm>
              <a:off x="1710" y="2926"/>
              <a:ext cx="5009" cy="4949"/>
              <a:chOff x="1710" y="2898"/>
              <a:chExt cx="5009" cy="4949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1710" y="3594"/>
                <a:ext cx="283" cy="283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 flipH="1">
                <a:off x="2133" y="2898"/>
                <a:ext cx="4587" cy="167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宋吴自牧《梦梁录》中《正月》开篇话说：“正月朔日，谓之元旦，俗呼为新年”。</a:t>
                </a:r>
              </a:p>
              <a:p>
                <a:pPr algn="l">
                  <a:lnSpc>
                    <a:spcPct val="150000"/>
                  </a:lnSpc>
                </a:pPr>
                <a:endPara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1710" y="6415"/>
                <a:ext cx="283" cy="283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 flipH="1">
                <a:off x="2133" y="5719"/>
                <a:ext cx="4587" cy="21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古代元旦宫廷有贺岁之礼，规模宏大而隆重。三国时曹植《元会》诗：</a:t>
                </a:r>
                <a:r>
                  <a:rPr 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“</a:t>
                </a: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初步元祚，古日惟良，乃为嘉会，宴此高堂”。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2949" y="2926"/>
              <a:ext cx="5010" cy="5297"/>
              <a:chOff x="1710" y="2898"/>
              <a:chExt cx="5010" cy="5297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1710" y="3594"/>
                <a:ext cx="283" cy="283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 flipH="1">
                <a:off x="2133" y="2898"/>
                <a:ext cx="4587" cy="167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唐白居易《七年元日对酒五首》之二：“众老忧添岁，余衰喜入春。年开第七秩，屈指几多人！”</a:t>
                </a: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710" y="6415"/>
                <a:ext cx="283" cy="283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 flipH="1">
                <a:off x="2133" y="5719"/>
                <a:ext cx="4587" cy="247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唐人孟浩然写了一首《回家元日》诗，云：“昨夜斗回北，今朝岁起东。我年已强壮，无禄尚忧农。桑野犹耕父，荷锄随牧童。田家占气候，共说此年丰。”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元旦相关诗话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671320" y="1742758"/>
            <a:ext cx="8592820" cy="3391535"/>
            <a:chOff x="1861" y="2730"/>
            <a:chExt cx="13532" cy="5341"/>
          </a:xfrm>
        </p:grpSpPr>
        <p:pic>
          <p:nvPicPr>
            <p:cNvPr id="7" name="图片 6" descr="templates\docerresourceshop\icons\\32313539363035303b32313539353933313bb4bac1aa"/>
            <p:cNvPicPr>
              <a:picLocks noChangeAspect="1"/>
            </p:cNvPicPr>
            <p:nvPr/>
          </p:nvPicPr>
          <p:blipFill>
            <a:blip r:embed="rId5">
              <a:lum brigh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61" y="2985"/>
              <a:ext cx="4950" cy="4950"/>
            </a:xfrm>
            <a:prstGeom prst="rect">
              <a:avLst/>
            </a:prstGeom>
          </p:spPr>
        </p:pic>
        <p:grpSp>
          <p:nvGrpSpPr>
            <p:cNvPr id="6" name="组合 5"/>
            <p:cNvGrpSpPr/>
            <p:nvPr/>
          </p:nvGrpSpPr>
          <p:grpSpPr>
            <a:xfrm>
              <a:off x="8920" y="4818"/>
              <a:ext cx="6473" cy="1164"/>
              <a:chOff x="8920" y="2887"/>
              <a:chExt cx="6473" cy="1164"/>
            </a:xfrm>
          </p:grpSpPr>
          <p:pic>
            <p:nvPicPr>
              <p:cNvPr id="8" name="图片 7" descr="templates\docerresourceshop\icons\\32313539383330383b32313539383239393bd6d0b9fabde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88" y="3203"/>
                <a:ext cx="636" cy="636"/>
              </a:xfrm>
              <a:prstGeom prst="rect">
                <a:avLst/>
              </a:prstGeom>
            </p:spPr>
          </p:pic>
          <p:sp>
            <p:nvSpPr>
              <p:cNvPr id="9" name="文本框 8"/>
              <p:cNvSpPr txBox="1"/>
              <p:nvPr/>
            </p:nvSpPr>
            <p:spPr>
              <a:xfrm flipH="1">
                <a:off x="10196" y="2887"/>
                <a:ext cx="5197" cy="116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宋伯仁《岁旦》诗：“居间无贺客，早起只如常，桃板随人换，梅花隔岁香。”</a:t>
                </a:r>
              </a:p>
            </p:txBody>
          </p:sp>
          <p:sp>
            <p:nvSpPr>
              <p:cNvPr id="10" name="矩形 9"/>
              <p:cNvSpPr/>
              <p:nvPr/>
            </p:nvSpPr>
            <p:spPr>
              <a:xfrm rot="2700000">
                <a:off x="8920" y="3135"/>
                <a:ext cx="772" cy="772"/>
              </a:xfrm>
              <a:prstGeom prst="rect">
                <a:avLst/>
              </a:prstGeom>
              <a:noFill/>
              <a:ln>
                <a:solidFill>
                  <a:srgbClr val="FEF3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1" name="圆角矩形 10"/>
              <p:cNvSpPr/>
              <p:nvPr/>
            </p:nvSpPr>
            <p:spPr>
              <a:xfrm rot="2700000">
                <a:off x="9398" y="3281"/>
                <a:ext cx="376" cy="376"/>
              </a:xfrm>
              <a:prstGeom prst="roundRect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920" y="2730"/>
              <a:ext cx="6472" cy="5341"/>
              <a:chOff x="8920" y="2675"/>
              <a:chExt cx="6472" cy="5341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8920" y="2675"/>
                <a:ext cx="6472" cy="1588"/>
                <a:chOff x="8920" y="2675"/>
                <a:chExt cx="6472" cy="1588"/>
              </a:xfrm>
            </p:grpSpPr>
            <p:pic>
              <p:nvPicPr>
                <p:cNvPr id="17" name="图片 16" descr="templates\docerresourceshop\icons\\32313539383330383b32313539383239393bd6d0b9fabde1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88" y="3203"/>
                  <a:ext cx="636" cy="636"/>
                </a:xfrm>
                <a:prstGeom prst="rect">
                  <a:avLst/>
                </a:prstGeom>
              </p:spPr>
            </p:pic>
            <p:sp>
              <p:nvSpPr>
                <p:cNvPr id="20" name="文本框 19"/>
                <p:cNvSpPr txBox="1"/>
                <p:nvPr/>
              </p:nvSpPr>
              <p:spPr>
                <a:xfrm flipH="1">
                  <a:off x="10196" y="2675"/>
                  <a:ext cx="5197" cy="15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南宋诗人陆游的《已酉元旦》诗：“夜雨解残雪，朝阳开积阴，桃符呵笔写，椒酒过花斜。”</a:t>
                  </a: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rot="2700000">
                  <a:off x="8920" y="3135"/>
                  <a:ext cx="772" cy="772"/>
                </a:xfrm>
                <a:prstGeom prst="rect">
                  <a:avLst/>
                </a:prstGeom>
                <a:noFill/>
                <a:ln>
                  <a:solidFill>
                    <a:srgbClr val="FEF3E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  <p:sp>
              <p:nvSpPr>
                <p:cNvPr id="32" name="圆角矩形 31"/>
                <p:cNvSpPr/>
                <p:nvPr/>
              </p:nvSpPr>
              <p:spPr>
                <a:xfrm rot="2700000">
                  <a:off x="9398" y="3281"/>
                  <a:ext cx="376" cy="376"/>
                </a:xfrm>
                <a:prstGeom prst="roundRect">
                  <a:avLst/>
                </a:prstGeom>
                <a:solidFill>
                  <a:srgbClr val="FF6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8920" y="6540"/>
                <a:ext cx="6473" cy="1477"/>
                <a:chOff x="8920" y="2731"/>
                <a:chExt cx="6473" cy="1477"/>
              </a:xfrm>
            </p:grpSpPr>
            <p:pic>
              <p:nvPicPr>
                <p:cNvPr id="13" name="图片 12" descr="templates\docerresourceshop\icons\\32313539383330383b32313539383239393bd6d0b9fabde1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88" y="3203"/>
                  <a:ext cx="636" cy="636"/>
                </a:xfrm>
                <a:prstGeom prst="rect">
                  <a:avLst/>
                </a:prstGeom>
              </p:spPr>
            </p:pic>
            <p:sp>
              <p:nvSpPr>
                <p:cNvPr id="14" name="文本框 13"/>
                <p:cNvSpPr txBox="1"/>
                <p:nvPr/>
              </p:nvSpPr>
              <p:spPr>
                <a:xfrm flipH="1">
                  <a:off x="10196" y="2731"/>
                  <a:ext cx="5197" cy="14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北宋改革家王安石的《元日》诗：“爆竹声中一岁除，春风送暖入屠苏。千门万户瞳瞳日，总把新桃换旧符”。</a:t>
                  </a: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 rot="2700000">
                  <a:off x="8920" y="3135"/>
                  <a:ext cx="772" cy="772"/>
                </a:xfrm>
                <a:prstGeom prst="rect">
                  <a:avLst/>
                </a:prstGeom>
                <a:noFill/>
                <a:ln>
                  <a:solidFill>
                    <a:srgbClr val="FEF3E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  <p:sp>
              <p:nvSpPr>
                <p:cNvPr id="28" name="圆角矩形 27"/>
                <p:cNvSpPr/>
                <p:nvPr/>
              </p:nvSpPr>
              <p:spPr>
                <a:xfrm rot="2700000">
                  <a:off x="9398" y="3281"/>
                  <a:ext cx="376" cy="376"/>
                </a:xfrm>
                <a:prstGeom prst="roundRect">
                  <a:avLst/>
                </a:prstGeom>
                <a:solidFill>
                  <a:srgbClr val="FF6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元旦相关诗话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517015" y="1507173"/>
            <a:ext cx="9291320" cy="3919855"/>
            <a:chOff x="2955" y="2555"/>
            <a:chExt cx="14632" cy="6173"/>
          </a:xfrm>
        </p:grpSpPr>
        <p:grpSp>
          <p:nvGrpSpPr>
            <p:cNvPr id="14" name="组合 13"/>
            <p:cNvGrpSpPr/>
            <p:nvPr/>
          </p:nvGrpSpPr>
          <p:grpSpPr>
            <a:xfrm>
              <a:off x="2955" y="2555"/>
              <a:ext cx="6544" cy="2560"/>
              <a:chOff x="9999" y="2434"/>
              <a:chExt cx="6544" cy="2560"/>
            </a:xfrm>
          </p:grpSpPr>
          <p:sp>
            <p:nvSpPr>
              <p:cNvPr id="16" name="矩形 15"/>
              <p:cNvSpPr/>
              <p:nvPr/>
            </p:nvSpPr>
            <p:spPr>
              <a:xfrm rot="2700000">
                <a:off x="9999" y="3257"/>
                <a:ext cx="914" cy="914"/>
              </a:xfrm>
              <a:prstGeom prst="rect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pic>
            <p:nvPicPr>
              <p:cNvPr id="17" name="图片 16" descr="templates\docerresourceshop\icons\\32313539383330383b32313539383239393bd6d0b9fabde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38" y="3396"/>
                <a:ext cx="636" cy="636"/>
              </a:xfrm>
              <a:prstGeom prst="rect">
                <a:avLst/>
              </a:prstGeom>
            </p:spPr>
          </p:pic>
          <p:sp>
            <p:nvSpPr>
              <p:cNvPr id="20" name="文本框 19"/>
              <p:cNvSpPr txBox="1"/>
              <p:nvPr/>
            </p:nvSpPr>
            <p:spPr>
              <a:xfrm flipH="1">
                <a:off x="11346" y="2434"/>
                <a:ext cx="5197" cy="25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明代陈献章的《元旦试笔》有如一幅“乐岁图”。诗人在诗中写道：“邻墙旋打娱宾酒，稚子齐歌乐岁诗。老去又逢新岁月，春来更有好花枝。晚风何处江楼笛，吹到东溟月上时。”</a:t>
                </a:r>
              </a:p>
            </p:txBody>
          </p:sp>
          <p:sp>
            <p:nvSpPr>
              <p:cNvPr id="26" name="矩形 25"/>
              <p:cNvSpPr/>
              <p:nvPr/>
            </p:nvSpPr>
            <p:spPr>
              <a:xfrm rot="2700000">
                <a:off x="10070" y="3328"/>
                <a:ext cx="772" cy="772"/>
              </a:xfrm>
              <a:prstGeom prst="rect">
                <a:avLst/>
              </a:prstGeom>
              <a:noFill/>
              <a:ln>
                <a:solidFill>
                  <a:srgbClr val="FEF3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2955" y="6004"/>
              <a:ext cx="6544" cy="2560"/>
              <a:chOff x="9999" y="2434"/>
              <a:chExt cx="6544" cy="2560"/>
            </a:xfrm>
          </p:grpSpPr>
          <p:sp>
            <p:nvSpPr>
              <p:cNvPr id="6" name="矩形 5"/>
              <p:cNvSpPr/>
              <p:nvPr/>
            </p:nvSpPr>
            <p:spPr>
              <a:xfrm rot="2700000">
                <a:off x="9999" y="3257"/>
                <a:ext cx="914" cy="914"/>
              </a:xfrm>
              <a:prstGeom prst="rect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pic>
            <p:nvPicPr>
              <p:cNvPr id="7" name="图片 6" descr="templates\docerresourceshop\icons\\32313539383330383b32313539383239393bd6d0b9fabde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38" y="3396"/>
                <a:ext cx="636" cy="636"/>
              </a:xfrm>
              <a:prstGeom prst="rect">
                <a:avLst/>
              </a:prstGeom>
            </p:spPr>
          </p:pic>
          <p:sp>
            <p:nvSpPr>
              <p:cNvPr id="8" name="文本框 7"/>
              <p:cNvSpPr txBox="1"/>
              <p:nvPr/>
            </p:nvSpPr>
            <p:spPr>
              <a:xfrm flipH="1">
                <a:off x="11346" y="2434"/>
                <a:ext cx="5197" cy="25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清代爱国诗人张维屏的《新雷》，虽未用“元旦”、“元日”等词汇，却以元旦为题，写出人们贺岁、迎春的喜悦：“造物无言却有情，每于寒尽觉春生。千红万紫安排著，只待新雷第一声。”</a:t>
                </a:r>
              </a:p>
            </p:txBody>
          </p:sp>
          <p:sp>
            <p:nvSpPr>
              <p:cNvPr id="9" name="矩形 8"/>
              <p:cNvSpPr/>
              <p:nvPr/>
            </p:nvSpPr>
            <p:spPr>
              <a:xfrm rot="2700000">
                <a:off x="10070" y="3328"/>
                <a:ext cx="772" cy="772"/>
              </a:xfrm>
              <a:prstGeom prst="rect">
                <a:avLst/>
              </a:prstGeom>
              <a:noFill/>
              <a:ln>
                <a:solidFill>
                  <a:srgbClr val="FEF3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1043" y="2759"/>
              <a:ext cx="6544" cy="2153"/>
              <a:chOff x="9999" y="2638"/>
              <a:chExt cx="6544" cy="2153"/>
            </a:xfrm>
          </p:grpSpPr>
          <p:sp>
            <p:nvSpPr>
              <p:cNvPr id="11" name="矩形 10"/>
              <p:cNvSpPr/>
              <p:nvPr/>
            </p:nvSpPr>
            <p:spPr>
              <a:xfrm rot="2700000">
                <a:off x="9999" y="3257"/>
                <a:ext cx="914" cy="914"/>
              </a:xfrm>
              <a:prstGeom prst="rect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pic>
            <p:nvPicPr>
              <p:cNvPr id="12" name="图片 11" descr="templates\docerresourceshop\icons\\32313539383330383b32313539383239393bd6d0b9fabde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38" y="3396"/>
                <a:ext cx="636" cy="636"/>
              </a:xfrm>
              <a:prstGeom prst="rect">
                <a:avLst/>
              </a:prstGeom>
            </p:spPr>
          </p:pic>
          <p:sp>
            <p:nvSpPr>
              <p:cNvPr id="13" name="文本框 12"/>
              <p:cNvSpPr txBox="1"/>
              <p:nvPr/>
            </p:nvSpPr>
            <p:spPr>
              <a:xfrm flipH="1">
                <a:off x="11346" y="2638"/>
                <a:ext cx="5197" cy="215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一代伟人毛泽东，1930年1月写了一首《如梦令·元旦》：“宁化、清流、归化，路隘林深苔滑。今日向何方，直指武夷山下。山上山下，风展红旗如画。”</a:t>
                </a:r>
              </a:p>
            </p:txBody>
          </p:sp>
          <p:sp>
            <p:nvSpPr>
              <p:cNvPr id="27" name="矩形 26"/>
              <p:cNvSpPr/>
              <p:nvPr/>
            </p:nvSpPr>
            <p:spPr>
              <a:xfrm rot="2700000">
                <a:off x="10070" y="3328"/>
                <a:ext cx="772" cy="772"/>
              </a:xfrm>
              <a:prstGeom prst="rect">
                <a:avLst/>
              </a:prstGeom>
              <a:noFill/>
              <a:ln>
                <a:solidFill>
                  <a:srgbClr val="FEF3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1043" y="5840"/>
              <a:ext cx="6544" cy="2889"/>
              <a:chOff x="9999" y="2270"/>
              <a:chExt cx="6544" cy="2889"/>
            </a:xfrm>
          </p:grpSpPr>
          <p:sp>
            <p:nvSpPr>
              <p:cNvPr id="29" name="矩形 28"/>
              <p:cNvSpPr/>
              <p:nvPr/>
            </p:nvSpPr>
            <p:spPr>
              <a:xfrm rot="2700000">
                <a:off x="9999" y="3257"/>
                <a:ext cx="914" cy="914"/>
              </a:xfrm>
              <a:prstGeom prst="rect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pic>
            <p:nvPicPr>
              <p:cNvPr id="30" name="图片 29" descr="templates\docerresourceshop\icons\\32313539383330383b32313539383239393bd6d0b9fabde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38" y="3396"/>
                <a:ext cx="636" cy="636"/>
              </a:xfrm>
              <a:prstGeom prst="rect">
                <a:avLst/>
              </a:prstGeom>
            </p:spPr>
          </p:pic>
          <p:sp>
            <p:nvSpPr>
              <p:cNvPr id="31" name="文本框 30"/>
              <p:cNvSpPr txBox="1"/>
              <p:nvPr/>
            </p:nvSpPr>
            <p:spPr>
              <a:xfrm flipH="1">
                <a:off x="11346" y="2270"/>
                <a:ext cx="5197" cy="28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1942年董必武在重庆写了一首七律《元旦口占用柳亚子怀人韵》：“共庆新年笑语哗，红岩士女赠梅花。举杯互敬屠苏酒，散席分尝胜利茶。只有精忠能报国，更无乐土可为家。陪都歌舞迎佳节，遥祝延安景物华。”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 rot="2700000">
                <a:off x="10070" y="3328"/>
                <a:ext cx="772" cy="772"/>
              </a:xfrm>
              <a:prstGeom prst="rect">
                <a:avLst/>
              </a:prstGeom>
              <a:noFill/>
              <a:ln>
                <a:solidFill>
                  <a:srgbClr val="FEF3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" name="图片 1" descr="未标题-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224" y="5535"/>
              <a:ext cx="518" cy="581"/>
            </a:xfrm>
            <a:custGeom>
              <a:avLst/>
              <a:gdLst>
                <a:gd name="connsiteX0" fmla="*/ 301 w 517"/>
                <a:gd name="connsiteY0" fmla="*/ 233 h 580"/>
                <a:gd name="connsiteX1" fmla="*/ 238 w 517"/>
                <a:gd name="connsiteY1" fmla="*/ 422 h 580"/>
                <a:gd name="connsiteX2" fmla="*/ 7 w 517"/>
                <a:gd name="connsiteY2" fmla="*/ 507 h 580"/>
                <a:gd name="connsiteX3" fmla="*/ 139 w 517"/>
                <a:gd name="connsiteY3" fmla="*/ 576 h 580"/>
                <a:gd name="connsiteX4" fmla="*/ 465 w 517"/>
                <a:gd name="connsiteY4" fmla="*/ 471 h 580"/>
                <a:gd name="connsiteX5" fmla="*/ 489 w 517"/>
                <a:gd name="connsiteY5" fmla="*/ 29 h 580"/>
                <a:gd name="connsiteX6" fmla="*/ 344 w 517"/>
                <a:gd name="connsiteY6" fmla="*/ 71 h 580"/>
                <a:gd name="connsiteX7" fmla="*/ 301 w 517"/>
                <a:gd name="connsiteY7" fmla="*/ 233 h 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8" h="581">
                  <a:moveTo>
                    <a:pt x="301" y="233"/>
                  </a:moveTo>
                  <a:cubicBezTo>
                    <a:pt x="285" y="284"/>
                    <a:pt x="304" y="378"/>
                    <a:pt x="238" y="422"/>
                  </a:cubicBezTo>
                  <a:cubicBezTo>
                    <a:pt x="172" y="466"/>
                    <a:pt x="35" y="476"/>
                    <a:pt x="7" y="507"/>
                  </a:cubicBezTo>
                  <a:cubicBezTo>
                    <a:pt x="-21" y="538"/>
                    <a:pt x="38" y="563"/>
                    <a:pt x="139" y="576"/>
                  </a:cubicBezTo>
                  <a:cubicBezTo>
                    <a:pt x="239" y="589"/>
                    <a:pt x="387" y="581"/>
                    <a:pt x="465" y="471"/>
                  </a:cubicBezTo>
                  <a:cubicBezTo>
                    <a:pt x="543" y="361"/>
                    <a:pt x="520" y="98"/>
                    <a:pt x="489" y="29"/>
                  </a:cubicBezTo>
                  <a:cubicBezTo>
                    <a:pt x="458" y="-40"/>
                    <a:pt x="382" y="30"/>
                    <a:pt x="344" y="71"/>
                  </a:cubicBezTo>
                  <a:cubicBezTo>
                    <a:pt x="306" y="112"/>
                    <a:pt x="317" y="183"/>
                    <a:pt x="301" y="233"/>
                  </a:cubicBezTo>
                  <a:close/>
                </a:path>
              </a:pathLst>
            </a:custGeom>
            <a:gradFill>
              <a:gsLst>
                <a:gs pos="0">
                  <a:srgbClr val="F6A932"/>
                </a:gs>
                <a:gs pos="100000">
                  <a:srgbClr val="EA752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89275" y="2522855"/>
            <a:ext cx="69469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新年心愿与目标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4593273" y="3331845"/>
            <a:ext cx="3938905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单击此处输入你的正文，文字是您思想的提炼，请尽量言简意赅的阐述观点。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5636260" y="4188460"/>
            <a:ext cx="1852930" cy="323850"/>
          </a:xfrm>
          <a:prstGeom prst="roundRect">
            <a:avLst>
              <a:gd name="adj" fmla="val 50000"/>
            </a:avLst>
          </a:prstGeom>
          <a:solidFill>
            <a:srgbClr val="BD3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D3625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13705" y="4182110"/>
            <a:ext cx="209867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第四部分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53990" y="2224405"/>
            <a:ext cx="261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HAPPY NEW YEAR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新年心愿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360805" y="1327785"/>
            <a:ext cx="9470390" cy="4278630"/>
            <a:chOff x="2143" y="2031"/>
            <a:chExt cx="14914" cy="6738"/>
          </a:xfrm>
        </p:grpSpPr>
        <p:grpSp>
          <p:nvGrpSpPr>
            <p:cNvPr id="6" name="组合 5"/>
            <p:cNvGrpSpPr/>
            <p:nvPr/>
          </p:nvGrpSpPr>
          <p:grpSpPr>
            <a:xfrm>
              <a:off x="7409" y="3975"/>
              <a:ext cx="4382" cy="4794"/>
              <a:chOff x="2286" y="2031"/>
              <a:chExt cx="4382" cy="4794"/>
            </a:xfrm>
          </p:grpSpPr>
          <p:pic>
            <p:nvPicPr>
              <p:cNvPr id="7" name="图片 6" descr="未标题-1-2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3955" y="2031"/>
                <a:ext cx="1045" cy="2222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41" h="4552">
                    <a:moveTo>
                      <a:pt x="0" y="0"/>
                    </a:moveTo>
                    <a:lnTo>
                      <a:pt x="299" y="0"/>
                    </a:lnTo>
                    <a:lnTo>
                      <a:pt x="299" y="667"/>
                    </a:lnTo>
                    <a:lnTo>
                      <a:pt x="2141" y="667"/>
                    </a:lnTo>
                    <a:lnTo>
                      <a:pt x="2141" y="4552"/>
                    </a:lnTo>
                    <a:lnTo>
                      <a:pt x="0" y="45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sp>
            <p:nvSpPr>
              <p:cNvPr id="8" name="文本框 7"/>
              <p:cNvSpPr txBox="1"/>
              <p:nvPr/>
            </p:nvSpPr>
            <p:spPr>
              <a:xfrm flipH="1">
                <a:off x="2286" y="4253"/>
                <a:ext cx="4383" cy="25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单击此处输入你的正文，文字是您思想的提炼，请尽量言简意赅的阐述观点。单击此处输入你的正文，文字是您思想的提炼，请尽量言简意赅的阐述观点。</a:t>
                </a:r>
                <a:endPara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  <a:p>
                <a:pPr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2143" y="2031"/>
              <a:ext cx="14915" cy="4794"/>
              <a:chOff x="2286" y="2031"/>
              <a:chExt cx="14915" cy="4794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2286" y="2031"/>
                <a:ext cx="4382" cy="4794"/>
                <a:chOff x="2286" y="2031"/>
                <a:chExt cx="4382" cy="4794"/>
              </a:xfrm>
            </p:grpSpPr>
            <p:pic>
              <p:nvPicPr>
                <p:cNvPr id="9" name="图片 8" descr="未标题-1-2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>
                <a:xfrm>
                  <a:off x="3955" y="2031"/>
                  <a:ext cx="1045" cy="222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141" h="4552">
                      <a:moveTo>
                        <a:pt x="0" y="0"/>
                      </a:moveTo>
                      <a:lnTo>
                        <a:pt x="299" y="0"/>
                      </a:lnTo>
                      <a:lnTo>
                        <a:pt x="299" y="667"/>
                      </a:lnTo>
                      <a:lnTo>
                        <a:pt x="2141" y="667"/>
                      </a:lnTo>
                      <a:lnTo>
                        <a:pt x="2141" y="4552"/>
                      </a:lnTo>
                      <a:lnTo>
                        <a:pt x="0" y="45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10" name="文本框 109"/>
                <p:cNvSpPr txBox="1"/>
                <p:nvPr/>
              </p:nvSpPr>
              <p:spPr>
                <a:xfrm flipH="1">
                  <a:off x="2286" y="4253"/>
                  <a:ext cx="4383" cy="25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单击此处输入你的正文，文字是您思想的提炼，请尽量言简意赅的阐述观点。单击此处输入你的正文，文字是您思想的提炼，请尽量言简意赅的阐述观点。</a:t>
                  </a: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  <a:p>
                  <a:pPr algn="ct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12819" y="2031"/>
                <a:ext cx="4382" cy="4794"/>
                <a:chOff x="2286" y="2031"/>
                <a:chExt cx="4382" cy="4794"/>
              </a:xfrm>
            </p:grpSpPr>
            <p:pic>
              <p:nvPicPr>
                <p:cNvPr id="11" name="图片 10" descr="未标题-1-2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>
                <a:xfrm>
                  <a:off x="3955" y="2031"/>
                  <a:ext cx="1045" cy="222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141" h="4552">
                      <a:moveTo>
                        <a:pt x="0" y="0"/>
                      </a:moveTo>
                      <a:lnTo>
                        <a:pt x="299" y="0"/>
                      </a:lnTo>
                      <a:lnTo>
                        <a:pt x="299" y="667"/>
                      </a:lnTo>
                      <a:lnTo>
                        <a:pt x="2141" y="667"/>
                      </a:lnTo>
                      <a:lnTo>
                        <a:pt x="2141" y="4552"/>
                      </a:lnTo>
                      <a:lnTo>
                        <a:pt x="0" y="45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2" name="文本框 11"/>
                <p:cNvSpPr txBox="1"/>
                <p:nvPr/>
              </p:nvSpPr>
              <p:spPr>
                <a:xfrm flipH="1">
                  <a:off x="2286" y="4253"/>
                  <a:ext cx="4383" cy="25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单击此处输入你的正文，文字是您思想的提炼，请尽量言简意赅的阐述观点。单击此处输入你的正文，文字是您思想的提炼，请尽量言简意赅的阐述观点。</a:t>
                  </a: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  <a:p>
                  <a:pPr algn="ct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18490" y="513080"/>
            <a:ext cx="2908935" cy="526415"/>
            <a:chOff x="1724" y="808"/>
            <a:chExt cx="4581" cy="829"/>
          </a:xfrm>
        </p:grpSpPr>
        <p:pic>
          <p:nvPicPr>
            <p:cNvPr id="23" name="图片 22" descr="templates\docerresourceshop\icons\\32313539333135343b32313539333135303bc6bbb9fb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4" y="808"/>
              <a:ext cx="806" cy="80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2698" y="912"/>
              <a:ext cx="360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4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新年目标</a:t>
              </a:r>
              <a:endParaRPr lang="en-US" altLang="zh-CN" sz="240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3" name="图片 2" descr="templates\docerresourceshop\icons\\343439383330383b343439383237353bb7e7b3b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2835" y="2249805"/>
            <a:ext cx="2386330" cy="2386330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1549400" y="1864360"/>
            <a:ext cx="9093200" cy="3157220"/>
            <a:chOff x="2263" y="2914"/>
            <a:chExt cx="14320" cy="4972"/>
          </a:xfrm>
        </p:grpSpPr>
        <p:grpSp>
          <p:nvGrpSpPr>
            <p:cNvPr id="10" name="组合 9"/>
            <p:cNvGrpSpPr/>
            <p:nvPr/>
          </p:nvGrpSpPr>
          <p:grpSpPr>
            <a:xfrm>
              <a:off x="2263" y="2914"/>
              <a:ext cx="4382" cy="4973"/>
              <a:chOff x="1948" y="3383"/>
              <a:chExt cx="4382" cy="4973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1948" y="3383"/>
                <a:ext cx="4383" cy="2308"/>
                <a:chOff x="1780" y="4496"/>
                <a:chExt cx="4383" cy="2308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 flipH="1">
                  <a:off x="3380" y="4496"/>
                  <a:ext cx="2783" cy="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r">
                    <a:lnSpc>
                      <a:spcPct val="150000"/>
                    </a:lnSpc>
                  </a:pPr>
                  <a:r>
                    <a:rPr lang="zh-CN" sz="2000" b="1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添加标题</a:t>
                  </a:r>
                </a:p>
              </p:txBody>
            </p:sp>
            <p:sp>
              <p:nvSpPr>
                <p:cNvPr id="110" name="文本框 109"/>
                <p:cNvSpPr txBox="1"/>
                <p:nvPr/>
              </p:nvSpPr>
              <p:spPr>
                <a:xfrm flipH="1">
                  <a:off x="1780" y="5188"/>
                  <a:ext cx="4383" cy="16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单击此处输入你的正文，文字是您思想的提炼，请尽量言简意赅的阐述观点。单击此处输入你的正文。</a:t>
                  </a: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  <a:p>
                  <a:pPr algn="ct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  <p:grpSp>
            <p:nvGrpSpPr>
              <p:cNvPr id="7" name="组合 6"/>
              <p:cNvGrpSpPr/>
              <p:nvPr/>
            </p:nvGrpSpPr>
            <p:grpSpPr>
              <a:xfrm>
                <a:off x="1948" y="6048"/>
                <a:ext cx="4383" cy="2308"/>
                <a:chOff x="1780" y="4496"/>
                <a:chExt cx="4383" cy="2308"/>
              </a:xfrm>
            </p:grpSpPr>
            <p:sp>
              <p:nvSpPr>
                <p:cNvPr id="8" name="文本框 7"/>
                <p:cNvSpPr txBox="1"/>
                <p:nvPr/>
              </p:nvSpPr>
              <p:spPr>
                <a:xfrm flipH="1">
                  <a:off x="3380" y="4496"/>
                  <a:ext cx="2783" cy="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r">
                    <a:lnSpc>
                      <a:spcPct val="150000"/>
                    </a:lnSpc>
                  </a:pPr>
                  <a:r>
                    <a:rPr lang="zh-CN" sz="2000" b="1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添加标题</a:t>
                  </a: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 flipH="1">
                  <a:off x="1780" y="5188"/>
                  <a:ext cx="4383" cy="16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单击此处输入你的正文，文字是您思想的提炼，请尽量言简意赅的阐述观点。单击此处输入你的正文。</a:t>
                  </a: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  <a:p>
                  <a:pPr algn="ctr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</p:grpSp>
        <p:grpSp>
          <p:nvGrpSpPr>
            <p:cNvPr id="11" name="组合 10"/>
            <p:cNvGrpSpPr/>
            <p:nvPr/>
          </p:nvGrpSpPr>
          <p:grpSpPr>
            <a:xfrm>
              <a:off x="12201" y="2914"/>
              <a:ext cx="4382" cy="4973"/>
              <a:chOff x="1948" y="3383"/>
              <a:chExt cx="4382" cy="4973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948" y="3383"/>
                <a:ext cx="4383" cy="2308"/>
                <a:chOff x="1780" y="4496"/>
                <a:chExt cx="4383" cy="2308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 flipH="1">
                  <a:off x="1780" y="4496"/>
                  <a:ext cx="2783" cy="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sz="2000" b="1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添加标题</a:t>
                  </a: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 flipH="1">
                  <a:off x="1780" y="5188"/>
                  <a:ext cx="4383" cy="16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单击此处输入你的正文，文字是您思想的提炼，请尽量言简意赅的阐述观点。单击此处输入你的正文。</a:t>
                  </a: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  <a:p>
                  <a:pPr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1948" y="6048"/>
                <a:ext cx="4383" cy="2308"/>
                <a:chOff x="1780" y="4496"/>
                <a:chExt cx="4383" cy="2308"/>
              </a:xfrm>
            </p:grpSpPr>
            <p:sp>
              <p:nvSpPr>
                <p:cNvPr id="17" name="文本框 16"/>
                <p:cNvSpPr txBox="1"/>
                <p:nvPr/>
              </p:nvSpPr>
              <p:spPr>
                <a:xfrm flipH="1">
                  <a:off x="1780" y="4496"/>
                  <a:ext cx="2783" cy="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sz="2000" b="1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添加标题</a:t>
                  </a: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 flipH="1">
                  <a:off x="1780" y="5188"/>
                  <a:ext cx="4383" cy="16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300">
                      <a:solidFill>
                        <a:srgbClr val="BD3625"/>
                      </a:solidFill>
                      <a:latin typeface="OPPOSans B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  <a:sym typeface="OPPOSans B" panose="00020600040101010101" pitchFamily="18" charset="-122"/>
                    </a:rPr>
                    <a:t>单击此处输入你的正文，文字是您思想的提炼，请尽量言简意赅的阐述观点。单击此处输入你的正文。</a:t>
                  </a: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  <a:p>
                  <a:pPr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endParaRPr sz="1300">
                    <a:solidFill>
                      <a:srgbClr val="BD3625"/>
                    </a:solidFill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0228" y="545148"/>
            <a:ext cx="11091545" cy="5767705"/>
          </a:xfrm>
          <a:prstGeom prst="rect">
            <a:avLst/>
          </a:prstGeom>
          <a:solidFill>
            <a:srgbClr val="FE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345" y="349568"/>
            <a:ext cx="11497945" cy="6158865"/>
          </a:xfrm>
          <a:prstGeom prst="rect">
            <a:avLst/>
          </a:prstGeom>
          <a:noFill/>
          <a:ln w="25400">
            <a:solidFill>
              <a:srgbClr val="FEF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11835" y="701675"/>
            <a:ext cx="10768965" cy="5454650"/>
            <a:chOff x="1121" y="1057"/>
            <a:chExt cx="16959" cy="8590"/>
          </a:xfrm>
        </p:grpSpPr>
        <p:sp>
          <p:nvSpPr>
            <p:cNvPr id="15" name="椭圆 14"/>
            <p:cNvSpPr/>
            <p:nvPr/>
          </p:nvSpPr>
          <p:spPr>
            <a:xfrm>
              <a:off x="17740" y="1057"/>
              <a:ext cx="340" cy="340"/>
            </a:xfrm>
            <a:prstGeom prst="ellipse">
              <a:avLst/>
            </a:prstGeom>
            <a:solidFill>
              <a:srgbClr val="FF6A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21" y="9307"/>
              <a:ext cx="16959" cy="340"/>
              <a:chOff x="1121" y="9307"/>
              <a:chExt cx="16959" cy="3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21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740" y="9307"/>
                <a:ext cx="340" cy="340"/>
              </a:xfrm>
              <a:prstGeom prst="ellipse">
                <a:avLst/>
              </a:prstGeom>
              <a:solidFill>
                <a:srgbClr val="FF6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endParaRPr>
              </a:p>
            </p:txBody>
          </p:sp>
        </p:grpSp>
      </p:grpSp>
      <p:pic>
        <p:nvPicPr>
          <p:cNvPr id="23" name="图片 22" descr="templates\docerresourceshop\icons\\32313539333135343b32313539333135303bc6bbb9f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90" y="513080"/>
            <a:ext cx="511810" cy="511810"/>
          </a:xfrm>
          <a:prstGeom prst="rect">
            <a:avLst/>
          </a:prstGeom>
        </p:spPr>
      </p:pic>
      <p:sp>
        <p:nvSpPr>
          <p:cNvPr id="27" name="矩形 8">
            <a:extLst>
              <a:ext uri="{FF2B5EF4-FFF2-40B4-BE49-F238E27FC236}">
                <a16:creationId xmlns:a16="http://schemas.microsoft.com/office/drawing/2014/main" id="{68FB5712-8328-65DF-19BE-57A56922D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280" y="1022311"/>
            <a:ext cx="10437440" cy="487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8453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OPPOSans R" panose="00020600040101010101" pitchFamily="18" charset="-122"/>
              </a:defRPr>
            </a:lvl1pPr>
            <a:lvl2pPr marL="5143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OPPOSans R" panose="00020600040101010101" pitchFamily="18" charset="-122"/>
              </a:defRPr>
            </a:lvl2pPr>
            <a:lvl3pPr marL="8572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OPPOSans R" panose="00020600040101010101" pitchFamily="18" charset="-122"/>
              </a:defRPr>
            </a:lvl3pPr>
            <a:lvl4pPr marL="12001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4pPr>
            <a:lvl5pPr marL="15430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5pPr>
            <a:lvl6pPr marL="20002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6pPr>
            <a:lvl7pPr marL="24574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7pPr>
            <a:lvl8pPr marL="29146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8pPr>
            <a:lvl9pPr marL="33718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9pPr>
          </a:lstStyle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44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版权声明</a:t>
            </a:r>
            <a:endParaRPr lang="zh-CN" altLang="en-US" sz="2800" dirty="0">
              <a:solidFill>
                <a:srgbClr val="BD3625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       感谢您下载本网站平台上提供的PPT作品，为了您和本网站以及演讲人作者的利益，请勿复制、传播、销售，否则将承担法律责任！本网站将对作品进行维权，按照传播下载次数进行十倍的索取赔偿！</a:t>
            </a: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        1. 在本网站出售的PPT模板是免版税类(RF:Royalty-Free)正版受《中国人民共和国著作法》和《世界版权公约》的保护，作品的所有权、版权和著作权归本网站所有,您下载的是PPT模板素材的使用权。</a:t>
            </a: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        2. 不得将本网站的PPT模板、PPT素材，本身用于再出售,或者出租、出借、转让、分销、发布或者作为礼物供他人使用，不得转授权、出卖、转让本协议或者本协议中的权利。</a:t>
            </a:r>
          </a:p>
        </p:txBody>
      </p:sp>
    </p:spTree>
    <p:extLst>
      <p:ext uri="{BB962C8B-B14F-4D97-AF65-F5344CB8AC3E}">
        <p14:creationId xmlns:p14="http://schemas.microsoft.com/office/powerpoint/2010/main" val="3835927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" name="图片 1" descr="未标题-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224" y="5535"/>
              <a:ext cx="518" cy="581"/>
            </a:xfrm>
            <a:custGeom>
              <a:avLst/>
              <a:gdLst>
                <a:gd name="connsiteX0" fmla="*/ 301 w 517"/>
                <a:gd name="connsiteY0" fmla="*/ 233 h 580"/>
                <a:gd name="connsiteX1" fmla="*/ 238 w 517"/>
                <a:gd name="connsiteY1" fmla="*/ 422 h 580"/>
                <a:gd name="connsiteX2" fmla="*/ 7 w 517"/>
                <a:gd name="connsiteY2" fmla="*/ 507 h 580"/>
                <a:gd name="connsiteX3" fmla="*/ 139 w 517"/>
                <a:gd name="connsiteY3" fmla="*/ 576 h 580"/>
                <a:gd name="connsiteX4" fmla="*/ 465 w 517"/>
                <a:gd name="connsiteY4" fmla="*/ 471 h 580"/>
                <a:gd name="connsiteX5" fmla="*/ 489 w 517"/>
                <a:gd name="connsiteY5" fmla="*/ 29 h 580"/>
                <a:gd name="connsiteX6" fmla="*/ 344 w 517"/>
                <a:gd name="connsiteY6" fmla="*/ 71 h 580"/>
                <a:gd name="connsiteX7" fmla="*/ 301 w 517"/>
                <a:gd name="connsiteY7" fmla="*/ 233 h 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8" h="581">
                  <a:moveTo>
                    <a:pt x="301" y="233"/>
                  </a:moveTo>
                  <a:cubicBezTo>
                    <a:pt x="285" y="284"/>
                    <a:pt x="304" y="378"/>
                    <a:pt x="238" y="422"/>
                  </a:cubicBezTo>
                  <a:cubicBezTo>
                    <a:pt x="172" y="466"/>
                    <a:pt x="35" y="476"/>
                    <a:pt x="7" y="507"/>
                  </a:cubicBezTo>
                  <a:cubicBezTo>
                    <a:pt x="-21" y="538"/>
                    <a:pt x="38" y="563"/>
                    <a:pt x="139" y="576"/>
                  </a:cubicBezTo>
                  <a:cubicBezTo>
                    <a:pt x="239" y="589"/>
                    <a:pt x="387" y="581"/>
                    <a:pt x="465" y="471"/>
                  </a:cubicBezTo>
                  <a:cubicBezTo>
                    <a:pt x="543" y="361"/>
                    <a:pt x="520" y="98"/>
                    <a:pt x="489" y="29"/>
                  </a:cubicBezTo>
                  <a:cubicBezTo>
                    <a:pt x="458" y="-40"/>
                    <a:pt x="382" y="30"/>
                    <a:pt x="344" y="71"/>
                  </a:cubicBezTo>
                  <a:cubicBezTo>
                    <a:pt x="306" y="112"/>
                    <a:pt x="317" y="183"/>
                    <a:pt x="301" y="233"/>
                  </a:cubicBezTo>
                  <a:close/>
                </a:path>
              </a:pathLst>
            </a:custGeom>
            <a:gradFill>
              <a:gsLst>
                <a:gs pos="0">
                  <a:srgbClr val="F6A932"/>
                </a:gs>
                <a:gs pos="100000">
                  <a:srgbClr val="EA752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089275" y="2224088"/>
            <a:ext cx="6946900" cy="2287905"/>
            <a:chOff x="4865" y="3566"/>
            <a:chExt cx="10940" cy="3603"/>
          </a:xfrm>
        </p:grpSpPr>
        <p:sp>
          <p:nvSpPr>
            <p:cNvPr id="3" name="文本框 2"/>
            <p:cNvSpPr txBox="1"/>
            <p:nvPr/>
          </p:nvSpPr>
          <p:spPr>
            <a:xfrm>
              <a:off x="4865" y="4036"/>
              <a:ext cx="10940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srgbClr val="BD3625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OPPOSans B" panose="00020600040101010101" pitchFamily="18" charset="-122"/>
                </a:rPr>
                <a:t>THANKS.</a:t>
              </a:r>
              <a:r>
                <a:rPr lang="zh-CN" altLang="en-US" sz="5400" dirty="0">
                  <a:solidFill>
                    <a:srgbClr val="BD3625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OPPOSans B" panose="00020600040101010101" pitchFamily="18" charset="-122"/>
                </a:rPr>
                <a:t>感谢观看</a:t>
              </a: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6026" y="5310"/>
              <a:ext cx="8618" cy="11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单击此处输入你的正文，文字是您思想的提炼，为了最终演示发布的良好效果，请尽量言简意赅的阐述观点。单击此处输入你的正文。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8876" y="6659"/>
              <a:ext cx="2918" cy="510"/>
            </a:xfrm>
            <a:prstGeom prst="roundRect">
              <a:avLst>
                <a:gd name="adj" fmla="val 50000"/>
              </a:avLst>
            </a:prstGeom>
            <a:solidFill>
              <a:srgbClr val="BD36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683" y="6649"/>
              <a:ext cx="3305" cy="5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班主任：</a:t>
              </a:r>
              <a:r>
                <a:rPr lang="en-US" altLang="zh-CN" sz="1600" dirty="0">
                  <a:solidFill>
                    <a:schemeClr val="bg1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XXX</a:t>
              </a:r>
              <a:endParaRPr lang="zh-CN" altLang="en-US" sz="1600" dirty="0">
                <a:solidFill>
                  <a:schemeClr val="bg1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096" y="3566"/>
              <a:ext cx="412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solidFill>
                    <a:srgbClr val="BD3625"/>
                  </a:solidFill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HAPPY NEW YEAR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Y3YzViOTlkNGFjMDI1NjlkOTU2ODFjNWU0NjkzMDcifQ=="/>
  <p:tag name="KSO_WPP_MARK_KEY" val="4fb9c45f-3e0d-4f21-8a34-1c9b005f10f5"/>
</p:tagLst>
</file>

<file path=ppt/theme/theme1.xml><?xml version="1.0" encoding="utf-8"?>
<a:theme xmlns:a="http://schemas.openxmlformats.org/drawingml/2006/main" name="来自格调办公www.styleppt.com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1412</Words>
  <Application>Microsoft Office PowerPoint</Application>
  <PresentationFormat>宽屏</PresentationFormat>
  <Paragraphs>108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OPPOSans B</vt:lpstr>
      <vt:lpstr>OPPOSans R</vt:lpstr>
      <vt:lpstr>思源黑体 Normal</vt:lpstr>
      <vt:lpstr>Arial</vt:lpstr>
      <vt:lpstr>来自格调办公www.styleppt.com1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2022-04-16T10:17:00Z</dcterms:created>
  <dcterms:modified xsi:type="dcterms:W3CDTF">2023-12-18T09:21:53Z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2051F9F005BD4F21B872BDD850F67519</vt:lpwstr>
  </property>
  <property fmtid="{D5CDD505-2E9C-101B-9397-08002B2CF9AE}" pid="3" name="KSOProductBuildVer">
    <vt:lpwstr>2052-11.1.0.12763</vt:lpwstr>
  </property>
</Properties>
</file>