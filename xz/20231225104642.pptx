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2" r:id="rId1"/>
  </p:sldMasterIdLst>
  <p:notesMasterIdLst>
    <p:notesMasterId r:id="rId31"/>
  </p:notesMasterIdLst>
  <p:handoutMasterIdLst>
    <p:handoutMasterId r:id="rId32"/>
  </p:handoutMasterIdLst>
  <p:sldIdLst>
    <p:sldId id="475" r:id="rId2"/>
    <p:sldId id="791" r:id="rId3"/>
    <p:sldId id="476" r:id="rId4"/>
    <p:sldId id="786" r:id="rId5"/>
    <p:sldId id="788" r:id="rId6"/>
    <p:sldId id="787" r:id="rId7"/>
    <p:sldId id="789" r:id="rId8"/>
    <p:sldId id="790" r:id="rId9"/>
    <p:sldId id="792" r:id="rId10"/>
    <p:sldId id="768" r:id="rId11"/>
    <p:sldId id="743" r:id="rId12"/>
    <p:sldId id="793" r:id="rId13"/>
    <p:sldId id="744" r:id="rId14"/>
    <p:sldId id="723" r:id="rId15"/>
    <p:sldId id="770" r:id="rId16"/>
    <p:sldId id="727" r:id="rId17"/>
    <p:sldId id="774" r:id="rId18"/>
    <p:sldId id="776" r:id="rId19"/>
    <p:sldId id="777" r:id="rId20"/>
    <p:sldId id="783" r:id="rId21"/>
    <p:sldId id="778" r:id="rId22"/>
    <p:sldId id="779" r:id="rId23"/>
    <p:sldId id="794" r:id="rId24"/>
    <p:sldId id="781" r:id="rId25"/>
    <p:sldId id="782" r:id="rId26"/>
    <p:sldId id="784" r:id="rId27"/>
    <p:sldId id="740" r:id="rId28"/>
    <p:sldId id="15714082" r:id="rId29"/>
    <p:sldId id="79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524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9657081-4CF4-FB6A-E61D-27C0FE978E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  <a:sym typeface="思源黑体 Normal" panose="020B0400000000000000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C867C7-9E99-0C6E-C623-7220C280D9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E40BB-49B1-4FA9-8D1F-7E94CD081145}" type="datetimeFigureOut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  <a:sym typeface="思源黑体 Normal" panose="020B0400000000000000" pitchFamily="34" charset="-122"/>
              </a:rPr>
              <a:t>2023/12/18</a:t>
            </a:fld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  <a:sym typeface="思源黑体 Normal" panose="020B0400000000000000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B21D8-2FA2-943C-ADB7-3A0A89E201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  <a:sym typeface="思源黑体 Normal" panose="020B0400000000000000" pitchFamily="34" charset="-122"/>
            </a:endParaRPr>
          </a:p>
        </p:txBody>
      </p:sp>
      <p:sp>
        <p:nvSpPr>
          <p:cNvPr id="5" name="稻壳优创意位符 4">
            <a:extLst>
              <a:ext uri="{FF2B5EF4-FFF2-40B4-BE49-F238E27FC236}">
                <a16:creationId xmlns:a16="http://schemas.microsoft.com/office/drawing/2014/main" id="{81975565-79DB-D4E8-5330-EBE1099F08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74FD5-0BE4-4022-AE95-932F1130FE3D}" type="slidenum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  <a:sym typeface="思源黑体 Normal" panose="020B0400000000000000" pitchFamily="34" charset="-122"/>
              </a:rPr>
              <a:t>‹#›</a:t>
            </a:fld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8377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FC57027D-29CD-48BD-9DF6-D31672EB98EB}" type="datetimeFigureOut">
              <a:rPr lang="zh-CN" altLang="en-US" smtClean="0">
                <a:sym typeface="思源黑体 Normal" panose="020B0400000000000000" pitchFamily="34" charset="-122"/>
              </a:rPr>
              <a:pPr/>
              <a:t>2023/12/18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稻壳优创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‹#›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217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3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5874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4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9585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5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8330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6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3328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7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8623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8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6996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9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895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10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839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11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2862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12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6528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13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684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14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5841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15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7198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16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5183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17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9683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18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9537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19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0560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20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650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21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4585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22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1887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23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03653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24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5026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25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3650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26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02229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27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59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0026C-3A2C-4408-AA11-24A00A249546}" type="slidenum">
              <a:rPr lang="zh-CN" altLang="en-US" smtClean="0">
                <a:sym typeface="思源黑体 Normal" panose="020B0400000000000000" pitchFamily="34" charset="-122"/>
              </a:rPr>
              <a:pPr/>
              <a:t>28</a:t>
            </a:fld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14181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思源黑体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3230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格调办公www.styleppt.co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B24E9A-51D7-C977-F613-8A1F8C18A7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43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格调办公www.styleppt.co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形 24" hidden="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8181" y="734514"/>
            <a:ext cx="7463793" cy="2664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53DB691-FD60-20B2-03A5-3123259117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78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格调办公www.styleppt.co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E56E07C-3DCF-F887-9455-3FC1324144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1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格调办公www.styleppt.co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BC4393E-7BA2-9446-C734-982A511919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669200" y="596977"/>
            <a:ext cx="725047" cy="764539"/>
            <a:chOff x="5193631" y="2476500"/>
            <a:chExt cx="1806597" cy="1904999"/>
          </a:xfrm>
        </p:grpSpPr>
        <p:sp>
          <p:nvSpPr>
            <p:cNvPr id="11" name="任意多边形: 形状 10"/>
            <p:cNvSpPr/>
            <p:nvPr/>
          </p:nvSpPr>
          <p:spPr>
            <a:xfrm>
              <a:off x="5193631" y="2609688"/>
              <a:ext cx="1806597" cy="1771811"/>
            </a:xfrm>
            <a:custGeom>
              <a:avLst/>
              <a:gdLst>
                <a:gd name="connsiteX0" fmla="*/ 1513434 w 1806597"/>
                <a:gd name="connsiteY0" fmla="*/ 0 h 1771811"/>
                <a:gd name="connsiteX1" fmla="*/ 1806597 w 1806597"/>
                <a:gd name="connsiteY1" fmla="*/ 293163 h 1771811"/>
                <a:gd name="connsiteX2" fmla="*/ 1806597 w 1806597"/>
                <a:gd name="connsiteY2" fmla="*/ 1771812 h 1771811"/>
                <a:gd name="connsiteX3" fmla="*/ 0 w 1806597"/>
                <a:gd name="connsiteY3" fmla="*/ 1771812 h 1771811"/>
                <a:gd name="connsiteX4" fmla="*/ 0 w 1806597"/>
                <a:gd name="connsiteY4" fmla="*/ 293163 h 1771811"/>
                <a:gd name="connsiteX5" fmla="*/ 293163 w 1806597"/>
                <a:gd name="connsiteY5" fmla="*/ 0 h 1771811"/>
                <a:gd name="connsiteX6" fmla="*/ 1513434 w 1806597"/>
                <a:gd name="connsiteY6" fmla="*/ 0 h 177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6597" h="1771811">
                  <a:moveTo>
                    <a:pt x="1513434" y="0"/>
                  </a:moveTo>
                  <a:cubicBezTo>
                    <a:pt x="1675269" y="0"/>
                    <a:pt x="1806597" y="131328"/>
                    <a:pt x="1806597" y="293163"/>
                  </a:cubicBezTo>
                  <a:lnTo>
                    <a:pt x="1806597" y="1771812"/>
                  </a:lnTo>
                  <a:lnTo>
                    <a:pt x="0" y="1771812"/>
                  </a:lnTo>
                  <a:lnTo>
                    <a:pt x="0" y="293163"/>
                  </a:lnTo>
                  <a:cubicBezTo>
                    <a:pt x="0" y="131328"/>
                    <a:pt x="131328" y="0"/>
                    <a:pt x="293163" y="0"/>
                  </a:cubicBezTo>
                  <a:lnTo>
                    <a:pt x="1513434" y="0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OPPOSans R" panose="00020600040101010101" pitchFamily="18" charset="-122"/>
                <a:ea typeface="OPPOSans R" panose="00020600040101010101" pitchFamily="18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994062" y="3355616"/>
              <a:ext cx="236985" cy="816428"/>
            </a:xfrm>
            <a:custGeom>
              <a:avLst/>
              <a:gdLst>
                <a:gd name="connsiteX0" fmla="*/ 91520 w 236985"/>
                <a:gd name="connsiteY0" fmla="*/ 0 h 816428"/>
                <a:gd name="connsiteX1" fmla="*/ 0 w 236985"/>
                <a:gd name="connsiteY1" fmla="*/ 0 h 816428"/>
                <a:gd name="connsiteX2" fmla="*/ 0 w 236985"/>
                <a:gd name="connsiteY2" fmla="*/ 145465 h 816428"/>
                <a:gd name="connsiteX3" fmla="*/ 91520 w 236985"/>
                <a:gd name="connsiteY3" fmla="*/ 145465 h 816428"/>
                <a:gd name="connsiteX4" fmla="*/ 91520 w 236985"/>
                <a:gd name="connsiteY4" fmla="*/ 816429 h 816428"/>
                <a:gd name="connsiteX5" fmla="*/ 236986 w 236985"/>
                <a:gd name="connsiteY5" fmla="*/ 816429 h 816428"/>
                <a:gd name="connsiteX6" fmla="*/ 236986 w 236985"/>
                <a:gd name="connsiteY6" fmla="*/ 0 h 816428"/>
                <a:gd name="connsiteX7" fmla="*/ 91520 w 236985"/>
                <a:gd name="connsiteY7" fmla="*/ 0 h 816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985" h="816428">
                  <a:moveTo>
                    <a:pt x="91520" y="0"/>
                  </a:moveTo>
                  <a:lnTo>
                    <a:pt x="0" y="0"/>
                  </a:lnTo>
                  <a:lnTo>
                    <a:pt x="0" y="145465"/>
                  </a:lnTo>
                  <a:lnTo>
                    <a:pt x="91520" y="145465"/>
                  </a:lnTo>
                  <a:lnTo>
                    <a:pt x="91520" y="816429"/>
                  </a:lnTo>
                  <a:lnTo>
                    <a:pt x="236986" y="816429"/>
                  </a:lnTo>
                  <a:lnTo>
                    <a:pt x="236986" y="0"/>
                  </a:lnTo>
                  <a:lnTo>
                    <a:pt x="91520" y="0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OPPOSans R" panose="00020600040101010101" pitchFamily="18" charset="-122"/>
                <a:ea typeface="OPPOSans R" panose="00020600040101010101" pitchFamily="18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5831111" y="2476500"/>
              <a:ext cx="543355" cy="271584"/>
            </a:xfrm>
            <a:custGeom>
              <a:avLst/>
              <a:gdLst>
                <a:gd name="connsiteX0" fmla="*/ 67896 w 543355"/>
                <a:gd name="connsiteY0" fmla="*/ 271585 h 271584"/>
                <a:gd name="connsiteX1" fmla="*/ 115889 w 543355"/>
                <a:gd name="connsiteY1" fmla="*/ 251681 h 271584"/>
                <a:gd name="connsiteX2" fmla="*/ 135792 w 543355"/>
                <a:gd name="connsiteY2" fmla="*/ 203689 h 271584"/>
                <a:gd name="connsiteX3" fmla="*/ 135792 w 543355"/>
                <a:gd name="connsiteY3" fmla="*/ 67896 h 271584"/>
                <a:gd name="connsiteX4" fmla="*/ 67896 w 543355"/>
                <a:gd name="connsiteY4" fmla="*/ 0 h 271584"/>
                <a:gd name="connsiteX5" fmla="*/ 0 w 543355"/>
                <a:gd name="connsiteY5" fmla="*/ 67896 h 271584"/>
                <a:gd name="connsiteX6" fmla="*/ 0 w 543355"/>
                <a:gd name="connsiteY6" fmla="*/ 203689 h 271584"/>
                <a:gd name="connsiteX7" fmla="*/ 19904 w 543355"/>
                <a:gd name="connsiteY7" fmla="*/ 251681 h 271584"/>
                <a:gd name="connsiteX8" fmla="*/ 67896 w 543355"/>
                <a:gd name="connsiteY8" fmla="*/ 271585 h 271584"/>
                <a:gd name="connsiteX9" fmla="*/ 475460 w 543355"/>
                <a:gd name="connsiteY9" fmla="*/ 271585 h 271584"/>
                <a:gd name="connsiteX10" fmla="*/ 523452 w 543355"/>
                <a:gd name="connsiteY10" fmla="*/ 251681 h 271584"/>
                <a:gd name="connsiteX11" fmla="*/ 543356 w 543355"/>
                <a:gd name="connsiteY11" fmla="*/ 203689 h 271584"/>
                <a:gd name="connsiteX12" fmla="*/ 543356 w 543355"/>
                <a:gd name="connsiteY12" fmla="*/ 67896 h 271584"/>
                <a:gd name="connsiteX13" fmla="*/ 475460 w 543355"/>
                <a:gd name="connsiteY13" fmla="*/ 0 h 271584"/>
                <a:gd name="connsiteX14" fmla="*/ 407563 w 543355"/>
                <a:gd name="connsiteY14" fmla="*/ 67896 h 271584"/>
                <a:gd name="connsiteX15" fmla="*/ 407563 w 543355"/>
                <a:gd name="connsiteY15" fmla="*/ 203689 h 271584"/>
                <a:gd name="connsiteX16" fmla="*/ 427467 w 543355"/>
                <a:gd name="connsiteY16" fmla="*/ 251681 h 271584"/>
                <a:gd name="connsiteX17" fmla="*/ 475460 w 543355"/>
                <a:gd name="connsiteY17" fmla="*/ 271585 h 27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3355" h="271584">
                  <a:moveTo>
                    <a:pt x="67896" y="271585"/>
                  </a:moveTo>
                  <a:cubicBezTo>
                    <a:pt x="85940" y="271585"/>
                    <a:pt x="103239" y="264516"/>
                    <a:pt x="115889" y="251681"/>
                  </a:cubicBezTo>
                  <a:cubicBezTo>
                    <a:pt x="128538" y="239032"/>
                    <a:pt x="135792" y="221732"/>
                    <a:pt x="135792" y="203689"/>
                  </a:cubicBezTo>
                  <a:lnTo>
                    <a:pt x="135792" y="67896"/>
                  </a:lnTo>
                  <a:cubicBezTo>
                    <a:pt x="135792" y="30507"/>
                    <a:pt x="105286" y="0"/>
                    <a:pt x="67896" y="0"/>
                  </a:cubicBezTo>
                  <a:cubicBezTo>
                    <a:pt x="30507" y="0"/>
                    <a:pt x="0" y="30135"/>
                    <a:pt x="0" y="67896"/>
                  </a:cubicBezTo>
                  <a:lnTo>
                    <a:pt x="0" y="203689"/>
                  </a:lnTo>
                  <a:cubicBezTo>
                    <a:pt x="0" y="221732"/>
                    <a:pt x="7069" y="239032"/>
                    <a:pt x="19904" y="251681"/>
                  </a:cubicBezTo>
                  <a:cubicBezTo>
                    <a:pt x="32553" y="264516"/>
                    <a:pt x="49853" y="271585"/>
                    <a:pt x="67896" y="271585"/>
                  </a:cubicBezTo>
                  <a:close/>
                  <a:moveTo>
                    <a:pt x="475460" y="271585"/>
                  </a:moveTo>
                  <a:cubicBezTo>
                    <a:pt x="493503" y="271585"/>
                    <a:pt x="510803" y="264516"/>
                    <a:pt x="523452" y="251681"/>
                  </a:cubicBezTo>
                  <a:cubicBezTo>
                    <a:pt x="536101" y="239032"/>
                    <a:pt x="543356" y="221732"/>
                    <a:pt x="543356" y="203689"/>
                  </a:cubicBezTo>
                  <a:lnTo>
                    <a:pt x="543356" y="67896"/>
                  </a:lnTo>
                  <a:cubicBezTo>
                    <a:pt x="543356" y="30507"/>
                    <a:pt x="513221" y="0"/>
                    <a:pt x="475460" y="0"/>
                  </a:cubicBezTo>
                  <a:cubicBezTo>
                    <a:pt x="438070" y="0"/>
                    <a:pt x="407563" y="30135"/>
                    <a:pt x="407563" y="67896"/>
                  </a:cubicBezTo>
                  <a:lnTo>
                    <a:pt x="407563" y="203689"/>
                  </a:lnTo>
                  <a:cubicBezTo>
                    <a:pt x="407563" y="221732"/>
                    <a:pt x="414632" y="239032"/>
                    <a:pt x="427467" y="251681"/>
                  </a:cubicBezTo>
                  <a:cubicBezTo>
                    <a:pt x="440302" y="264516"/>
                    <a:pt x="457416" y="271585"/>
                    <a:pt x="475460" y="271585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OPPOSans R" panose="00020600040101010101" pitchFamily="18" charset="-122"/>
                <a:ea typeface="OPPOSans R" panose="00020600040101010101" pitchFamily="18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5193631" y="3103005"/>
              <a:ext cx="1806597" cy="90404"/>
            </a:xfrm>
            <a:custGeom>
              <a:avLst/>
              <a:gdLst>
                <a:gd name="connsiteX0" fmla="*/ 0 w 1806597"/>
                <a:gd name="connsiteY0" fmla="*/ 0 h 90404"/>
                <a:gd name="connsiteX1" fmla="*/ 1806597 w 1806597"/>
                <a:gd name="connsiteY1" fmla="*/ 0 h 90404"/>
                <a:gd name="connsiteX2" fmla="*/ 1806597 w 1806597"/>
                <a:gd name="connsiteY2" fmla="*/ 90404 h 90404"/>
                <a:gd name="connsiteX3" fmla="*/ 0 w 1806597"/>
                <a:gd name="connsiteY3" fmla="*/ 90404 h 90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6597" h="90404">
                  <a:moveTo>
                    <a:pt x="0" y="0"/>
                  </a:moveTo>
                  <a:lnTo>
                    <a:pt x="1806597" y="0"/>
                  </a:lnTo>
                  <a:lnTo>
                    <a:pt x="1806597" y="90404"/>
                  </a:lnTo>
                  <a:lnTo>
                    <a:pt x="0" y="90404"/>
                  </a:ln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OPPOSans R" panose="00020600040101010101" pitchFamily="18" charset="-122"/>
                <a:ea typeface="OPPOSans R" panose="00020600040101010101" pitchFamily="18" charset="-122"/>
                <a:sym typeface="思源黑体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569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7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" panose="020B0500000000000000" pitchFamily="34" charset="-122"/>
          <a:ea typeface="思源黑体" panose="020B05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" panose="020B0500000000000000" pitchFamily="34" charset="-122"/>
          <a:ea typeface="思源黑体" panose="020B05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" panose="020B0500000000000000" pitchFamily="34" charset="-122"/>
          <a:ea typeface="思源黑体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" panose="020B0500000000000000" pitchFamily="34" charset="-122"/>
          <a:ea typeface="思源黑体" panose="020B05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" panose="020B0500000000000000" pitchFamily="34" charset="-122"/>
          <a:ea typeface="思源黑体" panose="020B05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" panose="020B0500000000000000" pitchFamily="34" charset="-122"/>
          <a:ea typeface="思源黑体" panose="020B05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2458887" y="4417991"/>
            <a:ext cx="74282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B8833F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元旦放假通知及安全教育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B8833F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主题班会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B8833F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672916" y="2291013"/>
            <a:ext cx="4795223" cy="193899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 w="12700"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OPPOSans B" panose="00020600040101010101" pitchFamily="18" charset="-122"/>
              </a:rPr>
              <a:t>元 旦</a:t>
            </a:r>
            <a:endParaRPr kumimoji="0" lang="en-US" altLang="zh-CN" sz="6000" b="0" i="0" u="none" strike="noStrike" kern="1200" cap="none" spc="0" normalizeH="0" baseline="0" noProof="0" dirty="0">
              <a:ln w="12700">
                <a:noFill/>
              </a:ln>
              <a:solidFill>
                <a:srgbClr val="D21F01"/>
              </a:solidFill>
              <a:effectLst/>
              <a:uLnTx/>
              <a:uFillTx/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OPPOSans B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 w="12700"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OPPOSans B" panose="00020600040101010101" pitchFamily="18" charset="-122"/>
              </a:rPr>
              <a:t>假期安全教育</a:t>
            </a:r>
          </a:p>
        </p:txBody>
      </p:sp>
      <p:sp>
        <p:nvSpPr>
          <p:cNvPr id="2" name="矩形 1"/>
          <p:cNvSpPr/>
          <p:nvPr/>
        </p:nvSpPr>
        <p:spPr>
          <a:xfrm>
            <a:off x="4336544" y="1798570"/>
            <a:ext cx="35189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B8833F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安全记心中快乐过元旦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92232" y="2402995"/>
            <a:ext cx="2538968" cy="715089"/>
          </a:xfrm>
          <a:prstGeom prst="wedgeRoundRectCallout">
            <a:avLst>
              <a:gd name="adj1" fmla="val -31089"/>
              <a:gd name="adj2" fmla="val 66206"/>
              <a:gd name="adj3" fmla="val 16667"/>
            </a:avLst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HOLIDAY SAFETY EDUCATION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bldLvl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4501694" y="2528080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2540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9EDE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01-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9EDE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认识元旦节文化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4501694" y="3319499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2540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9EDE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02-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9EDE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元旦节放假通知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4501694" y="4110918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2540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9EDE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03-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9EDE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元旦假期安全须知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4501694" y="4902337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2540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9EDE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04-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9EDE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劳逸结合不忘学习</a:t>
            </a:r>
          </a:p>
        </p:txBody>
      </p:sp>
      <p:sp>
        <p:nvSpPr>
          <p:cNvPr id="12" name="图形"/>
          <p:cNvSpPr txBox="1"/>
          <p:nvPr/>
        </p:nvSpPr>
        <p:spPr bwMode="auto">
          <a:xfrm>
            <a:off x="4403570" y="1493998"/>
            <a:ext cx="356682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865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charset="0"/>
              </a:defRPr>
            </a:lvl5pPr>
            <a:lvl6pPr marL="6096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charset="0"/>
              </a:defRPr>
            </a:lvl6pPr>
            <a:lvl7pPr marL="12192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charset="0"/>
              </a:defRPr>
            </a:lvl7pPr>
            <a:lvl8pPr marL="18288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charset="0"/>
              </a:defRPr>
            </a:lvl8pPr>
            <a:lvl9pPr marL="24384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marL="0" marR="0" lvl="0" indent="0" algn="dist" defTabSz="182816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目录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25924" y="2001266"/>
            <a:ext cx="3740152" cy="502879"/>
            <a:chOff x="5112" y="5853"/>
            <a:chExt cx="4024" cy="541"/>
          </a:xfrm>
          <a:solidFill>
            <a:schemeClr val="accent1"/>
          </a:solidFill>
        </p:grpSpPr>
        <p:sp>
          <p:nvSpPr>
            <p:cNvPr id="3" name="圆角矩形 4"/>
            <p:cNvSpPr/>
            <p:nvPr/>
          </p:nvSpPr>
          <p:spPr>
            <a:xfrm>
              <a:off x="5814" y="5853"/>
              <a:ext cx="2621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第一部分</a:t>
              </a:r>
            </a:p>
          </p:txBody>
        </p:sp>
        <p:sp>
          <p:nvSpPr>
            <p:cNvPr id="4" name="五角星 5"/>
            <p:cNvSpPr/>
            <p:nvPr/>
          </p:nvSpPr>
          <p:spPr>
            <a:xfrm>
              <a:off x="5112" y="5900"/>
              <a:ext cx="447" cy="447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5" name="五角星 6"/>
            <p:cNvSpPr/>
            <p:nvPr/>
          </p:nvSpPr>
          <p:spPr>
            <a:xfrm>
              <a:off x="8689" y="5900"/>
              <a:ext cx="447" cy="447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404553" y="2983046"/>
            <a:ext cx="5382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认识元旦节文化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D21F01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26281" y="4129245"/>
            <a:ext cx="5539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HOLIDAY SAFETY EDUCATION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72515" y="1923355"/>
            <a:ext cx="3985895" cy="1445330"/>
            <a:chOff x="3110" y="2555"/>
            <a:chExt cx="6277" cy="4938"/>
          </a:xfrm>
        </p:grpSpPr>
        <p:sp>
          <p:nvSpPr>
            <p:cNvPr id="3" name="文本框 2"/>
            <p:cNvSpPr txBox="1"/>
            <p:nvPr/>
          </p:nvSpPr>
          <p:spPr>
            <a:xfrm>
              <a:off x="3110" y="2555"/>
              <a:ext cx="2526" cy="4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0" i="0" u="none" strike="noStrike" kern="1200" cap="none" spc="0" normalizeH="0" baseline="0" noProof="0" dirty="0">
                  <a:ln>
                    <a:noFill/>
                  </a:ln>
                  <a:solidFill>
                    <a:srgbClr val="C30000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“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114" y="2842"/>
              <a:ext cx="4273" cy="1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元旦的由来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751330" y="2643114"/>
            <a:ext cx="6266180" cy="23599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元旦，是中国的传统节日，元谓“始”，凡数之始称为“元”；旦谓“日”。元旦，意为“初始之日”。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其最早出现于《晋书》：颛帝以孟夏正月为元，其实正朔元旦之春。即把正月称为元，初一为旦。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13" name="文本框 12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认识元旦节文化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E161E7A-35F2-375E-A797-8BC38B7E97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6325" y="2812666"/>
            <a:ext cx="2216852" cy="24917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优创意 1"/>
          <p:cNvSpPr/>
          <p:nvPr/>
        </p:nvSpPr>
        <p:spPr>
          <a:xfrm>
            <a:off x="5702935" y="2893695"/>
            <a:ext cx="5376545" cy="2461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元旦，是新年之始，也被称为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“新历年”、“阳历年”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元旦又称三元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“岁之元、月之元、时之元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C3000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”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并且元旦的习俗，一直传承了下来。</a:t>
            </a:r>
          </a:p>
        </p:txBody>
      </p:sp>
      <p:sp>
        <p:nvSpPr>
          <p:cNvPr id="3" name="稻壳优创意 2"/>
          <p:cNvSpPr/>
          <p:nvPr/>
        </p:nvSpPr>
        <p:spPr>
          <a:xfrm>
            <a:off x="5829300" y="2096770"/>
            <a:ext cx="1530288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</a:t>
            </a:r>
          </a:p>
        </p:txBody>
      </p:sp>
      <p:grpSp>
        <p:nvGrpSpPr>
          <p:cNvPr id="4" name="稻壳优创意 3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6" name="稻壳优创意 3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认识元旦节文化</a:t>
              </a:r>
            </a:p>
          </p:txBody>
        </p:sp>
        <p:sp>
          <p:nvSpPr>
            <p:cNvPr id="7" name="稻壳优创意 3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9" name="稻壳优创意 4">
            <a:extLst>
              <a:ext uri="{FF2B5EF4-FFF2-40B4-BE49-F238E27FC236}">
                <a16:creationId xmlns:a16="http://schemas.microsoft.com/office/drawing/2014/main" id="{88CCCC1B-A750-514D-16C7-26F79AEB40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6656" y="2893695"/>
            <a:ext cx="2853485" cy="2730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ldLvl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91590" y="1741807"/>
            <a:ext cx="5612130" cy="2082911"/>
            <a:chOff x="1291590" y="1741807"/>
            <a:chExt cx="5612130" cy="2082911"/>
          </a:xfrm>
        </p:grpSpPr>
        <p:sp>
          <p:nvSpPr>
            <p:cNvPr id="9" name="文本框 8"/>
            <p:cNvSpPr txBox="1"/>
            <p:nvPr/>
          </p:nvSpPr>
          <p:spPr>
            <a:xfrm>
              <a:off x="1291590" y="1741807"/>
              <a:ext cx="2305050" cy="523220"/>
            </a:xfrm>
            <a:prstGeom prst="round2DiagRect">
              <a:avLst>
                <a:gd name="adj1" fmla="val 0"/>
                <a:gd name="adj2" fmla="val 0"/>
              </a:avLst>
            </a:prstGeom>
            <a:noFill/>
          </p:spPr>
          <p:txBody>
            <a:bodyPr vert="horz" wrap="square" tIns="45720" bIns="45720" rtlCol="0">
              <a:spAutoFit/>
            </a:bodyPr>
            <a:lstStyle/>
            <a:p>
              <a:pPr marL="457200" marR="0" lvl="0" indent="-4572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2800" b="1" i="0" u="none" strike="noStrike" kern="1200" cap="none" spc="100" normalizeH="0" baseline="0" noProof="0" dirty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元旦改日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91590" y="2329180"/>
              <a:ext cx="5612130" cy="149553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辛亥革命后，为了“行夏正，所以顺农时，从西历，所以便统计”，民国元年决定使用公历（实际使用是1912年），并规定阳历1月1日为“新年”，但并不叫“元旦”。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77840" y="4356245"/>
            <a:ext cx="4544695" cy="14955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1949年中华人民共和国以公历1月1日为元旦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，因此“元旦”在中国也被称为“阳历年”、“新历年”或“公历年”。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4" name="文本框 3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认识元旦节文化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041BD71E-4C65-04F4-54B7-8057E7EBB8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9131" y="4402914"/>
            <a:ext cx="1947499" cy="140219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D7DA6AD-405D-55DE-67A1-39B51F9134C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6477" y="2419470"/>
            <a:ext cx="1164709" cy="13149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稻壳优创意 1"/>
          <p:cNvGrpSpPr/>
          <p:nvPr/>
        </p:nvGrpSpPr>
        <p:grpSpPr>
          <a:xfrm>
            <a:off x="1435076" y="2089150"/>
            <a:ext cx="3438233" cy="3125470"/>
            <a:chOff x="2905" y="3550"/>
            <a:chExt cx="6443" cy="4922"/>
          </a:xfrm>
        </p:grpSpPr>
        <p:sp>
          <p:nvSpPr>
            <p:cNvPr id="3" name="稻壳优创意 1-1"/>
            <p:cNvSpPr txBox="1"/>
            <p:nvPr/>
          </p:nvSpPr>
          <p:spPr>
            <a:xfrm>
              <a:off x="3753" y="3550"/>
              <a:ext cx="4689" cy="8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vert="horz" wrap="square" tIns="36195" rtlCol="0" anchor="ctr" anchorCtr="0">
              <a:noAutofit/>
            </a:bodyPr>
            <a:lstStyle>
              <a:defPPr>
                <a:defRPr lang="zh-CN"/>
              </a:defPPr>
              <a:lvl1pPr lvl="0" algn="ctr">
                <a:buClrTx/>
                <a:buSzTx/>
                <a:buFontTx/>
                <a:defRPr sz="24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  <a:cs typeface="+mn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传统元旦的习俗</a:t>
              </a:r>
            </a:p>
          </p:txBody>
        </p:sp>
        <p:sp>
          <p:nvSpPr>
            <p:cNvPr id="5" name="稻壳优创意 1-2"/>
            <p:cNvSpPr txBox="1"/>
            <p:nvPr/>
          </p:nvSpPr>
          <p:spPr>
            <a:xfrm>
              <a:off x="2905" y="4418"/>
              <a:ext cx="6443" cy="405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历代皇朝都在元旦举行庆贺典仪祈祀等活动，如祭诸神祭先祖，写门对挂春联，书写福字、舞龙灯，民间也逐渐形成祭神佛、祭祖先、贴春联、放鞭炮、守岁、吃团圆饭以及众多的“社火”等娱乐欢庆活动。</a:t>
              </a:r>
            </a:p>
          </p:txBody>
        </p:sp>
      </p:grpSp>
      <p:grpSp>
        <p:nvGrpSpPr>
          <p:cNvPr id="8" name="稻壳优创意 2"/>
          <p:cNvGrpSpPr/>
          <p:nvPr/>
        </p:nvGrpSpPr>
        <p:grpSpPr>
          <a:xfrm>
            <a:off x="7753832" y="2090420"/>
            <a:ext cx="3653113" cy="3122930"/>
            <a:chOff x="2976" y="3550"/>
            <a:chExt cx="6224" cy="4918"/>
          </a:xfrm>
        </p:grpSpPr>
        <p:sp>
          <p:nvSpPr>
            <p:cNvPr id="9" name="稻壳优创意 2-1"/>
            <p:cNvSpPr txBox="1"/>
            <p:nvPr/>
          </p:nvSpPr>
          <p:spPr>
            <a:xfrm>
              <a:off x="3753" y="3550"/>
              <a:ext cx="4689" cy="8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vert="horz" wrap="square" tIns="36195" rtlCol="0" anchor="ctr" anchorCtr="0">
              <a:noAutofit/>
            </a:bodyPr>
            <a:lstStyle>
              <a:defPPr>
                <a:defRPr lang="zh-CN"/>
              </a:defPPr>
              <a:lvl1pPr lvl="0" algn="ctr">
                <a:buClrTx/>
                <a:buSzTx/>
                <a:buFontTx/>
                <a:defRPr sz="2400">
                  <a:solidFill>
                    <a:schemeClr val="bg1"/>
                  </a:solidFill>
                  <a:latin typeface="汉仪雅酷黑 85W" panose="020B0904020202020204" charset="-122"/>
                  <a:ea typeface="汉仪雅酷黑 85W" panose="020B0904020202020204" charset="-122"/>
                  <a:cs typeface="+mn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现代元旦的习俗</a:t>
              </a:r>
            </a:p>
          </p:txBody>
        </p:sp>
        <p:sp>
          <p:nvSpPr>
            <p:cNvPr id="10" name="稻壳优创意 2-2"/>
            <p:cNvSpPr txBox="1"/>
            <p:nvPr/>
          </p:nvSpPr>
          <p:spPr>
            <a:xfrm>
              <a:off x="2976" y="4417"/>
              <a:ext cx="6224" cy="405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6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到今天，元旦已经成为固定的节日，一般是由团体组织的活动，如元旦联欢晚会，挂庆祝元旦的标语，或举行集体活动等。农村大多保留着中国传统的庆祝方式，每到元旦，就会杀鸡宰鹅，祭拜各方神灵后，就是一家人团聚一餐。</a:t>
              </a:r>
            </a:p>
          </p:txBody>
        </p:sp>
      </p:grpSp>
      <p:grpSp>
        <p:nvGrpSpPr>
          <p:cNvPr id="2" name="稻壳优创意 3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4" name="稻壳优创意 3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认识元旦节文化</a:t>
              </a:r>
            </a:p>
          </p:txBody>
        </p:sp>
        <p:sp>
          <p:nvSpPr>
            <p:cNvPr id="11" name="稻壳优创意 3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13" name="稻壳优创意 4">
            <a:extLst>
              <a:ext uri="{FF2B5EF4-FFF2-40B4-BE49-F238E27FC236}">
                <a16:creationId xmlns:a16="http://schemas.microsoft.com/office/drawing/2014/main" id="{58800311-DF56-D561-5989-C975845E12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4058" y="1981870"/>
            <a:ext cx="2024873" cy="33005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优创意 1"/>
          <p:cNvSpPr txBox="1"/>
          <p:nvPr/>
        </p:nvSpPr>
        <p:spPr>
          <a:xfrm>
            <a:off x="1323340" y="3439800"/>
            <a:ext cx="3403600" cy="162369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《元日》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宋·王安石</a:t>
            </a:r>
          </a:p>
          <a:p>
            <a:pPr marL="0" marR="0" lvl="0" indent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爆竹声中一岁除，春风送暖入屠苏。</a:t>
            </a:r>
          </a:p>
          <a:p>
            <a:pPr marL="0" marR="0" lvl="0" indent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千门万户曈曈日，总把新桃换旧符。</a:t>
            </a:r>
          </a:p>
        </p:txBody>
      </p:sp>
      <p:grpSp>
        <p:nvGrpSpPr>
          <p:cNvPr id="11" name="稻壳优创意 2"/>
          <p:cNvGrpSpPr/>
          <p:nvPr/>
        </p:nvGrpSpPr>
        <p:grpSpPr>
          <a:xfrm>
            <a:off x="8163251" y="2489521"/>
            <a:ext cx="2650490" cy="2726690"/>
            <a:chOff x="11893" y="3576"/>
            <a:chExt cx="4174" cy="4294"/>
          </a:xfrm>
        </p:grpSpPr>
        <p:sp>
          <p:nvSpPr>
            <p:cNvPr id="5" name="稻壳优创意 2-1"/>
            <p:cNvSpPr txBox="1"/>
            <p:nvPr/>
          </p:nvSpPr>
          <p:spPr>
            <a:xfrm>
              <a:off x="11893" y="3849"/>
              <a:ext cx="4158" cy="4021"/>
            </a:xfrm>
            <a:prstGeom prst="rect">
              <a:avLst/>
            </a:prstGeom>
            <a:noFill/>
          </p:spPr>
          <p:txBody>
            <a:bodyPr vert="eaVert" wrap="square" rtlCol="0" anchor="t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昨夜斗回北，今朝岁起东；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我年已强仕，无禄尚忧农。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桑野就耕父，荷锄随牧童；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田家占气候，共说此年丰。</a:t>
              </a:r>
            </a:p>
          </p:txBody>
        </p:sp>
        <p:sp>
          <p:nvSpPr>
            <p:cNvPr id="2" name="稻壳优创意 2-2"/>
            <p:cNvSpPr txBox="1"/>
            <p:nvPr/>
          </p:nvSpPr>
          <p:spPr>
            <a:xfrm>
              <a:off x="15291" y="3576"/>
              <a:ext cx="776" cy="397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《田家元旦》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唐·孟浩然</a:t>
              </a:r>
            </a:p>
          </p:txBody>
        </p:sp>
      </p:grpSp>
      <p:sp>
        <p:nvSpPr>
          <p:cNvPr id="13" name="稻壳优创意 3"/>
          <p:cNvSpPr txBox="1"/>
          <p:nvPr/>
        </p:nvSpPr>
        <p:spPr>
          <a:xfrm>
            <a:off x="1808480" y="2489521"/>
            <a:ext cx="22098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诗词赏析</a:t>
            </a:r>
          </a:p>
        </p:txBody>
      </p:sp>
      <p:grpSp>
        <p:nvGrpSpPr>
          <p:cNvPr id="4" name="稻壳优创意 4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6" name="稻壳优创意 4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认识元旦节文化</a:t>
              </a:r>
            </a:p>
          </p:txBody>
        </p:sp>
        <p:sp>
          <p:nvSpPr>
            <p:cNvPr id="7" name="稻壳优创意 4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9" name="稻壳优创意 5">
            <a:extLst>
              <a:ext uri="{FF2B5EF4-FFF2-40B4-BE49-F238E27FC236}">
                <a16:creationId xmlns:a16="http://schemas.microsoft.com/office/drawing/2014/main" id="{36A11F43-974C-1C25-754D-4FCA49CF37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2066" y="2207892"/>
            <a:ext cx="2928002" cy="3191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25924" y="2001266"/>
            <a:ext cx="3740152" cy="502879"/>
            <a:chOff x="5112" y="5853"/>
            <a:chExt cx="4024" cy="541"/>
          </a:xfrm>
          <a:solidFill>
            <a:schemeClr val="accent1"/>
          </a:solidFill>
        </p:grpSpPr>
        <p:sp>
          <p:nvSpPr>
            <p:cNvPr id="3" name="圆角矩形 4"/>
            <p:cNvSpPr/>
            <p:nvPr/>
          </p:nvSpPr>
          <p:spPr>
            <a:xfrm>
              <a:off x="5814" y="5853"/>
              <a:ext cx="2621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第二部分</a:t>
              </a:r>
            </a:p>
          </p:txBody>
        </p:sp>
        <p:sp>
          <p:nvSpPr>
            <p:cNvPr id="4" name="五角星 5"/>
            <p:cNvSpPr/>
            <p:nvPr/>
          </p:nvSpPr>
          <p:spPr>
            <a:xfrm>
              <a:off x="5112" y="5900"/>
              <a:ext cx="447" cy="447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5" name="五角星 6"/>
            <p:cNvSpPr/>
            <p:nvPr/>
          </p:nvSpPr>
          <p:spPr>
            <a:xfrm>
              <a:off x="8689" y="5900"/>
              <a:ext cx="447" cy="447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404553" y="2983046"/>
            <a:ext cx="5382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元旦节放假通知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26281" y="4129245"/>
            <a:ext cx="5539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HOLIDAY SAFETY EDUCATION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优创意 1"/>
          <p:cNvSpPr txBox="1"/>
          <p:nvPr/>
        </p:nvSpPr>
        <p:spPr>
          <a:xfrm>
            <a:off x="3866193" y="1407708"/>
            <a:ext cx="4459615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20XX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节放假时间安排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D21F01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9" name="稻壳优创意 2"/>
          <p:cNvSpPr/>
          <p:nvPr/>
        </p:nvSpPr>
        <p:spPr>
          <a:xfrm>
            <a:off x="2232025" y="5533799"/>
            <a:ext cx="840613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</a:t>
            </a: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XX</a:t>
            </a: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年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12月31</a:t>
            </a: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日—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20XX</a:t>
            </a: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年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1月2日，共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放假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3天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日（星期二）照常返校</a:t>
            </a:r>
          </a:p>
        </p:txBody>
      </p:sp>
      <p:grpSp>
        <p:nvGrpSpPr>
          <p:cNvPr id="26" name="稻壳优创意 3"/>
          <p:cNvGrpSpPr/>
          <p:nvPr/>
        </p:nvGrpSpPr>
        <p:grpSpPr>
          <a:xfrm>
            <a:off x="1888491" y="2138212"/>
            <a:ext cx="2531110" cy="3299817"/>
            <a:chOff x="-3840481" y="1609407"/>
            <a:chExt cx="3032761" cy="3953821"/>
          </a:xfrm>
        </p:grpSpPr>
        <p:pic>
          <p:nvPicPr>
            <p:cNvPr id="8" name="稻壳优创意 3-1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3840481" y="1609407"/>
              <a:ext cx="3032761" cy="3953821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-3304225" y="3011804"/>
              <a:ext cx="1833464" cy="1725930"/>
              <a:chOff x="3153" y="4977"/>
              <a:chExt cx="2547" cy="2718"/>
            </a:xfrm>
          </p:grpSpPr>
          <p:sp>
            <p:nvSpPr>
              <p:cNvPr id="3" name="稻壳优创意 3-2"/>
              <p:cNvSpPr/>
              <p:nvPr/>
            </p:nvSpPr>
            <p:spPr>
              <a:xfrm>
                <a:off x="3153" y="4977"/>
                <a:ext cx="2547" cy="847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12月31日</a:t>
                </a:r>
              </a:p>
            </p:txBody>
          </p:sp>
          <p:sp>
            <p:nvSpPr>
              <p:cNvPr id="10" name="稻壳优创意 3-3"/>
              <p:cNvSpPr txBox="1"/>
              <p:nvPr/>
            </p:nvSpPr>
            <p:spPr>
              <a:xfrm>
                <a:off x="3153" y="6127"/>
                <a:ext cx="2511" cy="1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星期六</a:t>
                </a: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1F01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休</a:t>
                </a:r>
              </a:p>
            </p:txBody>
          </p:sp>
        </p:grpSp>
      </p:grpSp>
      <p:grpSp>
        <p:nvGrpSpPr>
          <p:cNvPr id="27" name="稻壳优创意 4"/>
          <p:cNvGrpSpPr/>
          <p:nvPr/>
        </p:nvGrpSpPr>
        <p:grpSpPr>
          <a:xfrm>
            <a:off x="4966971" y="2138212"/>
            <a:ext cx="2531110" cy="3299817"/>
            <a:chOff x="-3840481" y="1609407"/>
            <a:chExt cx="3032761" cy="3953821"/>
          </a:xfrm>
        </p:grpSpPr>
        <p:pic>
          <p:nvPicPr>
            <p:cNvPr id="28" name="稻壳优创意 4-1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3840481" y="1609407"/>
              <a:ext cx="3032761" cy="3953821"/>
            </a:xfrm>
            <a:prstGeom prst="rect">
              <a:avLst/>
            </a:prstGeom>
          </p:spPr>
        </p:pic>
        <p:grpSp>
          <p:nvGrpSpPr>
            <p:cNvPr id="29" name="组合 28"/>
            <p:cNvGrpSpPr/>
            <p:nvPr/>
          </p:nvGrpSpPr>
          <p:grpSpPr>
            <a:xfrm>
              <a:off x="-3304225" y="3011804"/>
              <a:ext cx="1807549" cy="1725930"/>
              <a:chOff x="3153" y="4977"/>
              <a:chExt cx="2511" cy="2718"/>
            </a:xfrm>
          </p:grpSpPr>
          <p:sp>
            <p:nvSpPr>
              <p:cNvPr id="30" name="稻壳优创意 4-2"/>
              <p:cNvSpPr/>
              <p:nvPr/>
            </p:nvSpPr>
            <p:spPr>
              <a:xfrm>
                <a:off x="3222" y="4977"/>
                <a:ext cx="2431" cy="847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1月1日</a:t>
                </a:r>
              </a:p>
            </p:txBody>
          </p:sp>
          <p:sp>
            <p:nvSpPr>
              <p:cNvPr id="31" name="稻壳优创意 4-3"/>
              <p:cNvSpPr txBox="1"/>
              <p:nvPr/>
            </p:nvSpPr>
            <p:spPr>
              <a:xfrm>
                <a:off x="3153" y="6127"/>
                <a:ext cx="2511" cy="1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星期日</a:t>
                </a: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1F01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休</a:t>
                </a:r>
              </a:p>
            </p:txBody>
          </p:sp>
        </p:grpSp>
      </p:grpSp>
      <p:grpSp>
        <p:nvGrpSpPr>
          <p:cNvPr id="32" name="稻壳优创意 5"/>
          <p:cNvGrpSpPr/>
          <p:nvPr/>
        </p:nvGrpSpPr>
        <p:grpSpPr>
          <a:xfrm>
            <a:off x="8107045" y="2138212"/>
            <a:ext cx="2531110" cy="3299817"/>
            <a:chOff x="-3840481" y="1609407"/>
            <a:chExt cx="3032761" cy="3953821"/>
          </a:xfrm>
        </p:grpSpPr>
        <p:pic>
          <p:nvPicPr>
            <p:cNvPr id="33" name="稻壳优创意 5-1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3840481" y="1609407"/>
              <a:ext cx="3032761" cy="3953821"/>
            </a:xfrm>
            <a:prstGeom prst="rect">
              <a:avLst/>
            </a:prstGeom>
          </p:spPr>
        </p:pic>
        <p:grpSp>
          <p:nvGrpSpPr>
            <p:cNvPr id="34" name="组合 33"/>
            <p:cNvGrpSpPr/>
            <p:nvPr/>
          </p:nvGrpSpPr>
          <p:grpSpPr>
            <a:xfrm>
              <a:off x="-3304225" y="3011804"/>
              <a:ext cx="1807549" cy="1725930"/>
              <a:chOff x="3153" y="4977"/>
              <a:chExt cx="2511" cy="2718"/>
            </a:xfrm>
          </p:grpSpPr>
          <p:sp>
            <p:nvSpPr>
              <p:cNvPr id="35" name="稻壳优创意 5-2"/>
              <p:cNvSpPr/>
              <p:nvPr/>
            </p:nvSpPr>
            <p:spPr>
              <a:xfrm>
                <a:off x="3222" y="4977"/>
                <a:ext cx="2431" cy="847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1月2日</a:t>
                </a:r>
              </a:p>
            </p:txBody>
          </p:sp>
          <p:sp>
            <p:nvSpPr>
              <p:cNvPr id="36" name="稻壳优创意 5-3"/>
              <p:cNvSpPr txBox="1"/>
              <p:nvPr/>
            </p:nvSpPr>
            <p:spPr>
              <a:xfrm>
                <a:off x="3153" y="6127"/>
                <a:ext cx="2511" cy="1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星期一</a:t>
                </a: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1F01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休</a:t>
                </a:r>
              </a:p>
            </p:txBody>
          </p:sp>
        </p:grpSp>
      </p:grpSp>
      <p:grpSp>
        <p:nvGrpSpPr>
          <p:cNvPr id="4" name="稻壳优创意 6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5" name="稻壳优创意 6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元旦节放假通知</a:t>
              </a:r>
            </a:p>
          </p:txBody>
        </p:sp>
        <p:sp>
          <p:nvSpPr>
            <p:cNvPr id="6" name="稻壳优创意 6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663690" y="2119006"/>
            <a:ext cx="2258368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返校要求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45984" y="2986462"/>
            <a:ext cx="3294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1F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提供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48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小时内核酸阴性证明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45984" y="4683270"/>
            <a:ext cx="4182976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21F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如身体不舒服或其他问题，提前电话联系班主任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45984" y="3583362"/>
            <a:ext cx="4381096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21F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有密接或去过风险地区的，暂缓返校，按防疫要求，居家隔离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8" name="文本框 7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元旦节放假通知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BC473BE-7074-2499-E501-A94E2CD865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7778" y="2986462"/>
            <a:ext cx="3485723" cy="2687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25924" y="2001266"/>
            <a:ext cx="3740152" cy="502879"/>
            <a:chOff x="5112" y="5853"/>
            <a:chExt cx="4024" cy="541"/>
          </a:xfrm>
          <a:solidFill>
            <a:schemeClr val="accent1"/>
          </a:solidFill>
        </p:grpSpPr>
        <p:sp>
          <p:nvSpPr>
            <p:cNvPr id="3" name="圆角矩形 4"/>
            <p:cNvSpPr/>
            <p:nvPr/>
          </p:nvSpPr>
          <p:spPr>
            <a:xfrm>
              <a:off x="5814" y="5853"/>
              <a:ext cx="2621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第三部分</a:t>
              </a:r>
            </a:p>
          </p:txBody>
        </p:sp>
        <p:sp>
          <p:nvSpPr>
            <p:cNvPr id="4" name="五角星 5"/>
            <p:cNvSpPr/>
            <p:nvPr/>
          </p:nvSpPr>
          <p:spPr>
            <a:xfrm>
              <a:off x="5112" y="5900"/>
              <a:ext cx="447" cy="447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5" name="五角星 6"/>
            <p:cNvSpPr/>
            <p:nvPr/>
          </p:nvSpPr>
          <p:spPr>
            <a:xfrm>
              <a:off x="8689" y="5900"/>
              <a:ext cx="447" cy="447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404553" y="2983046"/>
            <a:ext cx="5382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元旦假期安全须知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26281" y="4129245"/>
            <a:ext cx="5539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HOLIDAY SAFETY EDUCATION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稻壳优创意 1"/>
          <p:cNvGrpSpPr/>
          <p:nvPr/>
        </p:nvGrpSpPr>
        <p:grpSpPr>
          <a:xfrm>
            <a:off x="1158239" y="1559222"/>
            <a:ext cx="9875521" cy="1315821"/>
            <a:chOff x="1158239" y="1559222"/>
            <a:chExt cx="9875521" cy="1315821"/>
          </a:xfrm>
        </p:grpSpPr>
        <p:sp>
          <p:nvSpPr>
            <p:cNvPr id="2" name="稻壳优创意 1-1"/>
            <p:cNvSpPr/>
            <p:nvPr/>
          </p:nvSpPr>
          <p:spPr>
            <a:xfrm>
              <a:off x="1158239" y="2074824"/>
              <a:ext cx="9875521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虽然我们不提倡远行，但是就近的市内通行还是不可避免的。出行频率的增加带来的是必然是潜在的安全事故发生概率的提升，所以为了我们能开开心心出门，安安全全回家，我们需要做到以下几点哦：</a:t>
              </a:r>
            </a:p>
          </p:txBody>
        </p:sp>
        <p:sp>
          <p:nvSpPr>
            <p:cNvPr id="3" name="稻壳优创意 1-2"/>
            <p:cNvSpPr/>
            <p:nvPr/>
          </p:nvSpPr>
          <p:spPr>
            <a:xfrm>
              <a:off x="3936000" y="1559222"/>
              <a:ext cx="4320000" cy="50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vert="horz" wrap="square" tIns="36195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01 交通篇：安全文明出行</a:t>
              </a:r>
            </a:p>
          </p:txBody>
        </p:sp>
      </p:grpSp>
      <p:grpSp>
        <p:nvGrpSpPr>
          <p:cNvPr id="5" name="稻壳优创意 2"/>
          <p:cNvGrpSpPr/>
          <p:nvPr/>
        </p:nvGrpSpPr>
        <p:grpSpPr>
          <a:xfrm>
            <a:off x="1158239" y="3010532"/>
            <a:ext cx="9875521" cy="2687872"/>
            <a:chOff x="1158239" y="3010532"/>
            <a:chExt cx="9875521" cy="2687872"/>
          </a:xfrm>
        </p:grpSpPr>
        <p:grpSp>
          <p:nvGrpSpPr>
            <p:cNvPr id="6" name="组合 5"/>
            <p:cNvGrpSpPr/>
            <p:nvPr/>
          </p:nvGrpSpPr>
          <p:grpSpPr>
            <a:xfrm>
              <a:off x="1337309" y="3695385"/>
              <a:ext cx="4530091" cy="584775"/>
              <a:chOff x="2372432" y="2341057"/>
              <a:chExt cx="4530091" cy="584775"/>
            </a:xfrm>
          </p:grpSpPr>
          <p:sp>
            <p:nvSpPr>
              <p:cNvPr id="7" name="稻壳优创意 2-1"/>
              <p:cNvSpPr/>
              <p:nvPr/>
            </p:nvSpPr>
            <p:spPr>
              <a:xfrm>
                <a:off x="2372432" y="2417445"/>
                <a:ext cx="432000" cy="432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1</a:t>
                </a:r>
              </a:p>
            </p:txBody>
          </p:sp>
          <p:sp>
            <p:nvSpPr>
              <p:cNvPr id="8" name="稻壳优创意 2-2"/>
              <p:cNvSpPr/>
              <p:nvPr/>
            </p:nvSpPr>
            <p:spPr>
              <a:xfrm>
                <a:off x="2804433" y="2341057"/>
                <a:ext cx="409809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不在马路上嬉戏打闹，不在行走和骑车时看手机、听音乐，不在车辆盲区内玩耍。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316989" y="5240461"/>
              <a:ext cx="4098290" cy="457943"/>
              <a:chOff x="2372432" y="4064939"/>
              <a:chExt cx="4098290" cy="458387"/>
            </a:xfrm>
          </p:grpSpPr>
          <p:sp>
            <p:nvSpPr>
              <p:cNvPr id="10" name="稻壳优创意 2-3"/>
              <p:cNvSpPr/>
              <p:nvPr/>
            </p:nvSpPr>
            <p:spPr>
              <a:xfrm>
                <a:off x="2372432" y="4091107"/>
                <a:ext cx="432000" cy="432219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3</a:t>
                </a:r>
              </a:p>
            </p:txBody>
          </p:sp>
          <p:sp>
            <p:nvSpPr>
              <p:cNvPr id="11" name="稻壳优创意 2-4"/>
              <p:cNvSpPr/>
              <p:nvPr/>
            </p:nvSpPr>
            <p:spPr>
              <a:xfrm>
                <a:off x="2804232" y="4064939"/>
                <a:ext cx="3666490" cy="444591"/>
              </a:xfrm>
              <a:prstGeom prst="rect">
                <a:avLst/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未满16周岁不驾驶电动自行车。</a:t>
                </a: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316989" y="4455808"/>
              <a:ext cx="4550411" cy="584774"/>
              <a:chOff x="2372432" y="3145824"/>
              <a:chExt cx="4550411" cy="585342"/>
            </a:xfrm>
          </p:grpSpPr>
          <p:sp>
            <p:nvSpPr>
              <p:cNvPr id="13" name="稻壳优创意 2-5"/>
              <p:cNvSpPr/>
              <p:nvPr/>
            </p:nvSpPr>
            <p:spPr>
              <a:xfrm>
                <a:off x="2372432" y="3198202"/>
                <a:ext cx="432000" cy="432219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2</a:t>
                </a:r>
              </a:p>
            </p:txBody>
          </p:sp>
          <p:sp>
            <p:nvSpPr>
              <p:cNvPr id="14" name="稻壳优创意 2-6"/>
              <p:cNvSpPr/>
              <p:nvPr/>
            </p:nvSpPr>
            <p:spPr>
              <a:xfrm>
                <a:off x="2804232" y="3145824"/>
                <a:ext cx="4118611" cy="5853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不闯红灯、不翻越交通隔离栏，未满12周岁不骑自行车及共享单车，不坐副驾驶座位。</a:t>
                </a: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6503669" y="3771773"/>
              <a:ext cx="4530091" cy="432000"/>
              <a:chOff x="2372432" y="2417445"/>
              <a:chExt cx="4530091" cy="432000"/>
            </a:xfrm>
          </p:grpSpPr>
          <p:sp>
            <p:nvSpPr>
              <p:cNvPr id="16" name="稻壳优创意 2-7"/>
              <p:cNvSpPr/>
              <p:nvPr/>
            </p:nvSpPr>
            <p:spPr>
              <a:xfrm>
                <a:off x="2372432" y="2417445"/>
                <a:ext cx="432000" cy="432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4</a:t>
                </a:r>
              </a:p>
            </p:txBody>
          </p:sp>
          <p:sp>
            <p:nvSpPr>
              <p:cNvPr id="17" name="稻壳优创意 2-8"/>
              <p:cNvSpPr/>
              <p:nvPr/>
            </p:nvSpPr>
            <p:spPr>
              <a:xfrm>
                <a:off x="2804433" y="2464167"/>
                <a:ext cx="409809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不得在马路中央骑自行车。</a:t>
                </a: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483349" y="4455808"/>
              <a:ext cx="4550411" cy="584774"/>
              <a:chOff x="2372432" y="3145824"/>
              <a:chExt cx="4550411" cy="585342"/>
            </a:xfrm>
          </p:grpSpPr>
          <p:sp>
            <p:nvSpPr>
              <p:cNvPr id="19" name="稻壳优创意 2-9"/>
              <p:cNvSpPr/>
              <p:nvPr/>
            </p:nvSpPr>
            <p:spPr>
              <a:xfrm>
                <a:off x="2372432" y="3198202"/>
                <a:ext cx="432000" cy="432219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5</a:t>
                </a:r>
              </a:p>
            </p:txBody>
          </p:sp>
          <p:sp>
            <p:nvSpPr>
              <p:cNvPr id="20" name="稻壳优创意 2-10"/>
              <p:cNvSpPr/>
              <p:nvPr/>
            </p:nvSpPr>
            <p:spPr>
              <a:xfrm>
                <a:off x="2804232" y="3145824"/>
                <a:ext cx="4118611" cy="5853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OPPOSans B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B" panose="00020600040101010101" pitchFamily="18" charset="-122"/>
                  </a:rPr>
                  <a:t>横穿马路要走斑马线、人行天桥等，不得随意横穿。</a:t>
                </a:r>
              </a:p>
            </p:txBody>
          </p:sp>
        </p:grpSp>
        <p:sp>
          <p:nvSpPr>
            <p:cNvPr id="21" name="稻壳优创意 2-11"/>
            <p:cNvSpPr/>
            <p:nvPr/>
          </p:nvSpPr>
          <p:spPr>
            <a:xfrm>
              <a:off x="1158239" y="3010532"/>
              <a:ext cx="2378075" cy="548005"/>
            </a:xfrm>
            <a:prstGeom prst="round2Diag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37AA28"/>
                  </a:solidFill>
                </a14:hiddenFill>
              </a:ext>
            </a:extLst>
          </p:spPr>
          <p:txBody>
            <a:bodyPr wrap="square" tIns="71755" rtlCol="0" anchor="ctr" anchorCtr="0">
              <a:no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30000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遵守交通规则</a:t>
              </a:r>
            </a:p>
          </p:txBody>
        </p:sp>
      </p:grpSp>
      <p:grpSp>
        <p:nvGrpSpPr>
          <p:cNvPr id="23" name="稻壳优创意 3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24" name="稻壳优创意 3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25" name="稻壳优创意 3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稻壳优创意 1"/>
          <p:cNvSpPr/>
          <p:nvPr/>
        </p:nvSpPr>
        <p:spPr>
          <a:xfrm>
            <a:off x="4793298" y="2525395"/>
            <a:ext cx="2605405" cy="36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注意卫生 健康监测</a:t>
            </a:r>
          </a:p>
        </p:txBody>
      </p:sp>
      <p:sp>
        <p:nvSpPr>
          <p:cNvPr id="24" name="稻壳优创意 2"/>
          <p:cNvSpPr/>
          <p:nvPr/>
        </p:nvSpPr>
        <p:spPr>
          <a:xfrm>
            <a:off x="3756000" y="1795044"/>
            <a:ext cx="46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防疫篇：疫情防控不放松</a:t>
            </a:r>
          </a:p>
        </p:txBody>
      </p:sp>
      <p:sp>
        <p:nvSpPr>
          <p:cNvPr id="25" name="稻壳优创意 3"/>
          <p:cNvSpPr/>
          <p:nvPr/>
        </p:nvSpPr>
        <p:spPr>
          <a:xfrm>
            <a:off x="1220470" y="3804285"/>
            <a:ext cx="1615025" cy="1670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当前我省疫情正进入清零和常态化防控阶段，但疫情防控仍处于最关键时刻。</a:t>
            </a:r>
          </a:p>
        </p:txBody>
      </p:sp>
      <p:sp>
        <p:nvSpPr>
          <p:cNvPr id="30" name="稻壳优创意 4"/>
          <p:cNvSpPr/>
          <p:nvPr/>
        </p:nvSpPr>
        <p:spPr>
          <a:xfrm>
            <a:off x="1940352" y="3232785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a</a:t>
            </a:r>
          </a:p>
        </p:txBody>
      </p:sp>
      <p:sp>
        <p:nvSpPr>
          <p:cNvPr id="26" name="稻壳优创意 5"/>
          <p:cNvSpPr/>
          <p:nvPr/>
        </p:nvSpPr>
        <p:spPr>
          <a:xfrm>
            <a:off x="3500536" y="3804285"/>
            <a:ext cx="3047387" cy="1670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为了我们自身的安全，也为了不给国家添麻烦，我们务必做到非必要不出市，XX天内有省外低风险地区旅居史的师生员工需持XX小时内核算检测阴性报告返校。</a:t>
            </a:r>
          </a:p>
        </p:txBody>
      </p:sp>
      <p:sp>
        <p:nvSpPr>
          <p:cNvPr id="31" name="稻壳优创意 6"/>
          <p:cNvSpPr/>
          <p:nvPr/>
        </p:nvSpPr>
        <p:spPr>
          <a:xfrm>
            <a:off x="4799324" y="3267075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b</a:t>
            </a:r>
          </a:p>
        </p:txBody>
      </p:sp>
      <p:sp>
        <p:nvSpPr>
          <p:cNvPr id="27" name="稻壳优创意 7"/>
          <p:cNvSpPr/>
          <p:nvPr/>
        </p:nvSpPr>
        <p:spPr>
          <a:xfrm>
            <a:off x="7212965" y="3804285"/>
            <a:ext cx="1521425" cy="1670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同时做到不扎堆，不聚集，外出做好个人防护，尽量避免乘坐公共交通。</a:t>
            </a:r>
          </a:p>
        </p:txBody>
      </p:sp>
      <p:sp>
        <p:nvSpPr>
          <p:cNvPr id="32" name="稻壳优创意 8"/>
          <p:cNvSpPr/>
          <p:nvPr/>
        </p:nvSpPr>
        <p:spPr>
          <a:xfrm>
            <a:off x="7781290" y="3267075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c</a:t>
            </a:r>
          </a:p>
        </p:txBody>
      </p:sp>
      <p:sp>
        <p:nvSpPr>
          <p:cNvPr id="28" name="稻壳优创意 9"/>
          <p:cNvSpPr/>
          <p:nvPr/>
        </p:nvSpPr>
        <p:spPr>
          <a:xfrm>
            <a:off x="9302750" y="3804285"/>
            <a:ext cx="1670050" cy="1670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如遇特殊情况，请第一时间向所在社区和班主任做好报备工作，切勿瞒报、漏报。</a:t>
            </a:r>
          </a:p>
        </p:txBody>
      </p:sp>
      <p:sp>
        <p:nvSpPr>
          <p:cNvPr id="33" name="稻壳优创意 10"/>
          <p:cNvSpPr/>
          <p:nvPr/>
        </p:nvSpPr>
        <p:spPr>
          <a:xfrm>
            <a:off x="9947275" y="3280410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d</a:t>
            </a:r>
          </a:p>
        </p:txBody>
      </p:sp>
      <p:grpSp>
        <p:nvGrpSpPr>
          <p:cNvPr id="6" name="稻壳优创意 11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7" name="稻壳优创意 11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8" name="稻壳优创意 11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优创意 1"/>
          <p:cNvSpPr/>
          <p:nvPr/>
        </p:nvSpPr>
        <p:spPr>
          <a:xfrm>
            <a:off x="1426844" y="2203337"/>
            <a:ext cx="1001839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遵守疫情防控要求，做好自我防护，科学佩戴口罩，与他人保持社交安全距离。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尽量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避免到人群聚集、空间密闭、通风较差的场所活动。</a:t>
            </a:r>
          </a:p>
        </p:txBody>
      </p:sp>
      <p:sp>
        <p:nvSpPr>
          <p:cNvPr id="12" name="稻壳优创意 2"/>
          <p:cNvSpPr/>
          <p:nvPr/>
        </p:nvSpPr>
        <p:spPr>
          <a:xfrm>
            <a:off x="1426845" y="1760628"/>
            <a:ext cx="222631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做好自我防护</a:t>
            </a:r>
          </a:p>
        </p:txBody>
      </p:sp>
      <p:sp>
        <p:nvSpPr>
          <p:cNvPr id="15" name="稻壳优创意 3"/>
          <p:cNvSpPr/>
          <p:nvPr/>
        </p:nvSpPr>
        <p:spPr>
          <a:xfrm>
            <a:off x="1396365" y="4163696"/>
            <a:ext cx="46539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保持个人卫生和环境卫生，勤洗手，常通风。</a:t>
            </a:r>
          </a:p>
        </p:txBody>
      </p:sp>
      <p:sp>
        <p:nvSpPr>
          <p:cNvPr id="16" name="稻壳优创意 4"/>
          <p:cNvSpPr/>
          <p:nvPr/>
        </p:nvSpPr>
        <p:spPr>
          <a:xfrm>
            <a:off x="1402397" y="4587910"/>
            <a:ext cx="450151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饭前便后、触摸眼、口、鼻之前，接触垃圾、排泄物之后要用肥皂或洗手液洗手，不方便洗手时可使用免洗手消毒剂。</a:t>
            </a:r>
          </a:p>
        </p:txBody>
      </p:sp>
      <p:sp>
        <p:nvSpPr>
          <p:cNvPr id="13" name="稻壳优创意 5"/>
          <p:cNvSpPr/>
          <p:nvPr/>
        </p:nvSpPr>
        <p:spPr>
          <a:xfrm>
            <a:off x="1426845" y="3643768"/>
            <a:ext cx="222631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保持良好卫生</a:t>
            </a:r>
          </a:p>
        </p:txBody>
      </p:sp>
      <p:sp>
        <p:nvSpPr>
          <p:cNvPr id="19" name="稻壳优创意 6"/>
          <p:cNvSpPr/>
          <p:nvPr/>
        </p:nvSpPr>
        <p:spPr>
          <a:xfrm>
            <a:off x="6973570" y="4163696"/>
            <a:ext cx="35179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持续做好自我体温监测，如出现发热、咳嗽、乏力、腹泻等症状，应及时就医，并做好防范感染他人的措施。</a:t>
            </a:r>
          </a:p>
        </p:txBody>
      </p:sp>
      <p:sp>
        <p:nvSpPr>
          <p:cNvPr id="20" name="稻壳优创意 7"/>
          <p:cNvSpPr/>
          <p:nvPr/>
        </p:nvSpPr>
        <p:spPr>
          <a:xfrm>
            <a:off x="7004050" y="3643768"/>
            <a:ext cx="222631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坚持健康监测</a:t>
            </a:r>
          </a:p>
        </p:txBody>
      </p:sp>
      <p:grpSp>
        <p:nvGrpSpPr>
          <p:cNvPr id="9" name="稻壳优创意 8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10" name="稻壳优创意 8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11" name="稻壳优创意 8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优创意 1"/>
          <p:cNvSpPr/>
          <p:nvPr/>
        </p:nvSpPr>
        <p:spPr>
          <a:xfrm>
            <a:off x="1392555" y="2386330"/>
            <a:ext cx="1873885" cy="6426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养成良好习惯</a:t>
            </a:r>
          </a:p>
        </p:txBody>
      </p:sp>
      <p:sp>
        <p:nvSpPr>
          <p:cNvPr id="11" name="稻壳优创意 2"/>
          <p:cNvSpPr/>
          <p:nvPr/>
        </p:nvSpPr>
        <p:spPr>
          <a:xfrm>
            <a:off x="1392555" y="2967990"/>
            <a:ext cx="3780155" cy="71173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不能靠近窗帘等易燃物品。不随意存放汽油、酒精等易燃易爆物品，使用时要加强安全防护。</a:t>
            </a:r>
          </a:p>
        </p:txBody>
      </p:sp>
      <p:sp>
        <p:nvSpPr>
          <p:cNvPr id="14" name="稻壳优创意 3"/>
          <p:cNvSpPr/>
          <p:nvPr/>
        </p:nvSpPr>
        <p:spPr>
          <a:xfrm>
            <a:off x="7571105" y="2386330"/>
            <a:ext cx="2434590" cy="6477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②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注意用电安全</a:t>
            </a:r>
          </a:p>
        </p:txBody>
      </p:sp>
      <p:sp>
        <p:nvSpPr>
          <p:cNvPr id="16" name="稻壳优创意 4"/>
          <p:cNvSpPr/>
          <p:nvPr/>
        </p:nvSpPr>
        <p:spPr>
          <a:xfrm>
            <a:off x="7571105" y="2992120"/>
            <a:ext cx="3447415" cy="87376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不能超负荷用电，不乱拉乱接电线。离开住处或睡觉前要检查用电器具是否断电，总电源是否切断。</a:t>
            </a:r>
          </a:p>
        </p:txBody>
      </p:sp>
      <p:sp>
        <p:nvSpPr>
          <p:cNvPr id="18" name="稻壳优创意 5"/>
          <p:cNvSpPr/>
          <p:nvPr/>
        </p:nvSpPr>
        <p:spPr>
          <a:xfrm>
            <a:off x="4852670" y="1600834"/>
            <a:ext cx="248666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72000" bIns="71755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03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消防安全篇</a:t>
            </a:r>
          </a:p>
        </p:txBody>
      </p:sp>
      <p:sp>
        <p:nvSpPr>
          <p:cNvPr id="19" name="稻壳优创意 6"/>
          <p:cNvSpPr/>
          <p:nvPr/>
        </p:nvSpPr>
        <p:spPr>
          <a:xfrm>
            <a:off x="1392555" y="4114607"/>
            <a:ext cx="2005965" cy="546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③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谨防煤气泄漏</a:t>
            </a:r>
          </a:p>
        </p:txBody>
      </p:sp>
      <p:sp>
        <p:nvSpPr>
          <p:cNvPr id="20" name="稻壳优创意 7"/>
          <p:cNvSpPr/>
          <p:nvPr/>
        </p:nvSpPr>
        <p:spPr>
          <a:xfrm>
            <a:off x="1392555" y="4695632"/>
            <a:ext cx="3560445" cy="10348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发现煤气泄漏，打开门窗，切勿触动电器开关和使用明火，并迅速通知专业维修部门来处理。</a:t>
            </a:r>
          </a:p>
        </p:txBody>
      </p:sp>
      <p:sp>
        <p:nvSpPr>
          <p:cNvPr id="21" name="稻壳优创意 8"/>
          <p:cNvSpPr/>
          <p:nvPr/>
        </p:nvSpPr>
        <p:spPr>
          <a:xfrm>
            <a:off x="7571105" y="4114607"/>
            <a:ext cx="3447415" cy="6426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④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发现火灾迅速拨打119报警电话；</a:t>
            </a:r>
          </a:p>
        </p:txBody>
      </p:sp>
      <p:sp>
        <p:nvSpPr>
          <p:cNvPr id="26" name="稻壳优创意 9"/>
          <p:cNvSpPr/>
          <p:nvPr/>
        </p:nvSpPr>
        <p:spPr>
          <a:xfrm>
            <a:off x="7571105" y="4675947"/>
            <a:ext cx="3769995" cy="38856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火灾袭来时要迅速疏散逃生，不贪恋财物。</a:t>
            </a:r>
          </a:p>
        </p:txBody>
      </p:sp>
      <p:cxnSp>
        <p:nvCxnSpPr>
          <p:cNvPr id="2" name="稻壳优创意 10"/>
          <p:cNvCxnSpPr/>
          <p:nvPr/>
        </p:nvCxnSpPr>
        <p:spPr>
          <a:xfrm>
            <a:off x="1518920" y="3012440"/>
            <a:ext cx="5181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优创意 11"/>
          <p:cNvCxnSpPr/>
          <p:nvPr/>
        </p:nvCxnSpPr>
        <p:spPr>
          <a:xfrm>
            <a:off x="7680960" y="3028950"/>
            <a:ext cx="5181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稻壳优创意 12"/>
          <p:cNvCxnSpPr/>
          <p:nvPr/>
        </p:nvCxnSpPr>
        <p:spPr>
          <a:xfrm>
            <a:off x="1518920" y="4727382"/>
            <a:ext cx="5181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稻壳优创意 13"/>
          <p:cNvCxnSpPr/>
          <p:nvPr/>
        </p:nvCxnSpPr>
        <p:spPr>
          <a:xfrm>
            <a:off x="7680960" y="4743892"/>
            <a:ext cx="5181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稻壳优创意 14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9" name="稻壳优创意 14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10" name="稻壳优创意 14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13" name="稻壳优创意 15">
            <a:extLst>
              <a:ext uri="{FF2B5EF4-FFF2-40B4-BE49-F238E27FC236}">
                <a16:creationId xmlns:a16="http://schemas.microsoft.com/office/drawing/2014/main" id="{21B34245-2C15-25AC-B40F-41939DD274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090" y="2459097"/>
            <a:ext cx="1835821" cy="32714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6" grpId="0"/>
      <p:bldP spid="18" grpId="0" animBg="1"/>
      <p:bldP spid="19" grpId="0"/>
      <p:bldP spid="20" grpId="0"/>
      <p:bldP spid="21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优创意 1"/>
          <p:cNvSpPr/>
          <p:nvPr/>
        </p:nvSpPr>
        <p:spPr>
          <a:xfrm>
            <a:off x="1407795" y="2420235"/>
            <a:ext cx="2240043" cy="6426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①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防触电风险</a:t>
            </a:r>
          </a:p>
        </p:txBody>
      </p:sp>
      <p:sp>
        <p:nvSpPr>
          <p:cNvPr id="18" name="稻壳优创意 2"/>
          <p:cNvSpPr/>
          <p:nvPr/>
        </p:nvSpPr>
        <p:spPr>
          <a:xfrm>
            <a:off x="4656000" y="1686877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04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居家安全篇</a:t>
            </a:r>
          </a:p>
        </p:txBody>
      </p:sp>
      <p:sp>
        <p:nvSpPr>
          <p:cNvPr id="6" name="稻壳优创意 3"/>
          <p:cNvSpPr/>
          <p:nvPr/>
        </p:nvSpPr>
        <p:spPr>
          <a:xfrm flipV="1">
            <a:off x="1539875" y="3880017"/>
            <a:ext cx="599440" cy="479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8" name="稻壳优创意 4"/>
          <p:cNvSpPr/>
          <p:nvPr/>
        </p:nvSpPr>
        <p:spPr>
          <a:xfrm>
            <a:off x="1407795" y="4077839"/>
            <a:ext cx="2353945" cy="164020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不要去触碰带电的物体，包括电线、插座，不要用潮湿的手去触摸电器、电源等，不要用湿布擦拭电器。</a:t>
            </a:r>
          </a:p>
        </p:txBody>
      </p:sp>
      <p:sp>
        <p:nvSpPr>
          <p:cNvPr id="9" name="稻壳优创意 5"/>
          <p:cNvSpPr/>
          <p:nvPr/>
        </p:nvSpPr>
        <p:spPr>
          <a:xfrm>
            <a:off x="1539875" y="331026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a</a:t>
            </a:r>
          </a:p>
        </p:txBody>
      </p:sp>
      <p:sp>
        <p:nvSpPr>
          <p:cNvPr id="12" name="稻壳优创意 6"/>
          <p:cNvSpPr/>
          <p:nvPr/>
        </p:nvSpPr>
        <p:spPr>
          <a:xfrm flipV="1">
            <a:off x="5222991" y="3880017"/>
            <a:ext cx="599440" cy="479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3" name="稻壳优创意 7"/>
          <p:cNvSpPr/>
          <p:nvPr/>
        </p:nvSpPr>
        <p:spPr>
          <a:xfrm>
            <a:off x="5090911" y="4077839"/>
            <a:ext cx="2353945" cy="164020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家里的插座、插排都可以用一些安全防护盖进行遮挡，并且将插座、插排等放置在孩子不容易触碰到的地方。</a:t>
            </a:r>
          </a:p>
        </p:txBody>
      </p:sp>
      <p:sp>
        <p:nvSpPr>
          <p:cNvPr id="15" name="稻壳优创意 8"/>
          <p:cNvSpPr/>
          <p:nvPr/>
        </p:nvSpPr>
        <p:spPr>
          <a:xfrm>
            <a:off x="5222991" y="331026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b</a:t>
            </a:r>
          </a:p>
        </p:txBody>
      </p:sp>
      <p:sp>
        <p:nvSpPr>
          <p:cNvPr id="22" name="稻壳优创意 9"/>
          <p:cNvSpPr/>
          <p:nvPr/>
        </p:nvSpPr>
        <p:spPr>
          <a:xfrm flipV="1">
            <a:off x="8861859" y="3892717"/>
            <a:ext cx="599440" cy="479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23" name="稻壳优创意 10"/>
          <p:cNvSpPr/>
          <p:nvPr/>
        </p:nvSpPr>
        <p:spPr>
          <a:xfrm>
            <a:off x="8729778" y="4090539"/>
            <a:ext cx="2182061" cy="164020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电器使用完毕后，应该及时关闭电源。不要把金属物品和小手伸到插孔里面去。</a:t>
            </a:r>
          </a:p>
        </p:txBody>
      </p:sp>
      <p:sp>
        <p:nvSpPr>
          <p:cNvPr id="24" name="稻壳优创意 11"/>
          <p:cNvSpPr/>
          <p:nvPr/>
        </p:nvSpPr>
        <p:spPr>
          <a:xfrm>
            <a:off x="8861859" y="3322962"/>
            <a:ext cx="432000" cy="43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c</a:t>
            </a:r>
          </a:p>
        </p:txBody>
      </p:sp>
      <p:grpSp>
        <p:nvGrpSpPr>
          <p:cNvPr id="2" name="稻壳优创意 12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3" name="稻壳优创意 12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4" name="稻壳优创意 12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 animBg="1"/>
      <p:bldP spid="6" grpId="0" animBg="1"/>
      <p:bldP spid="8" grpId="0"/>
      <p:bldP spid="9" grpId="0" animBg="1"/>
      <p:bldP spid="12" grpId="0" animBg="1"/>
      <p:bldP spid="13" grpId="0"/>
      <p:bldP spid="15" grpId="0" animBg="1"/>
      <p:bldP spid="22" grpId="0" animBg="1"/>
      <p:bldP spid="23" grpId="0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优创意 1"/>
          <p:cNvSpPr/>
          <p:nvPr/>
        </p:nvSpPr>
        <p:spPr>
          <a:xfrm>
            <a:off x="1433829" y="1780450"/>
            <a:ext cx="2430962" cy="432000"/>
          </a:xfrm>
          <a:prstGeom prst="rect">
            <a:avLst/>
          </a:prstGeom>
        </p:spPr>
        <p:txBody>
          <a:bodyPr wrap="square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②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防烧烫伤风险</a:t>
            </a:r>
          </a:p>
        </p:txBody>
      </p:sp>
      <p:sp>
        <p:nvSpPr>
          <p:cNvPr id="8" name="稻壳优创意 2"/>
          <p:cNvSpPr/>
          <p:nvPr/>
        </p:nvSpPr>
        <p:spPr>
          <a:xfrm>
            <a:off x="1433830" y="2038350"/>
            <a:ext cx="9493250" cy="437043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不单独进浴室、厨房，远离热源。从微波炉里取食物时，确保孩子不在周围；餐桌上尽量不放没被固定的桌布。</a:t>
            </a:r>
          </a:p>
        </p:txBody>
      </p:sp>
      <p:sp>
        <p:nvSpPr>
          <p:cNvPr id="6" name="稻壳优创意 3"/>
          <p:cNvSpPr/>
          <p:nvPr/>
        </p:nvSpPr>
        <p:spPr>
          <a:xfrm>
            <a:off x="1433829" y="2790154"/>
            <a:ext cx="2694288" cy="432000"/>
          </a:xfrm>
          <a:prstGeom prst="rect">
            <a:avLst/>
          </a:prstGeom>
        </p:spPr>
        <p:txBody>
          <a:bodyPr wrap="square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③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防误饮误食风险</a:t>
            </a:r>
          </a:p>
        </p:txBody>
      </p:sp>
      <p:sp>
        <p:nvSpPr>
          <p:cNvPr id="12" name="稻壳优创意 4"/>
          <p:cNvSpPr/>
          <p:nvPr/>
        </p:nvSpPr>
        <p:spPr>
          <a:xfrm>
            <a:off x="1433830" y="3211830"/>
            <a:ext cx="9843770" cy="824841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不单独待在阳台上、门廊里或者防火梯上玩耍。</a:t>
            </a:r>
          </a:p>
          <a:p>
            <a:pPr marL="0" marR="0" lvl="0" indent="0" algn="just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在窗台下面还有阳台上，不随意攀爬的物品，不要把头和身体伸到窗户外面去或是栏杆外面去，这些都是非常危险的动作。</a:t>
            </a:r>
          </a:p>
        </p:txBody>
      </p:sp>
      <p:sp>
        <p:nvSpPr>
          <p:cNvPr id="13" name="稻壳优创意 5"/>
          <p:cNvSpPr/>
          <p:nvPr/>
        </p:nvSpPr>
        <p:spPr>
          <a:xfrm>
            <a:off x="1423669" y="4217634"/>
            <a:ext cx="2199585" cy="432000"/>
          </a:xfrm>
          <a:prstGeom prst="rect">
            <a:avLst/>
          </a:prstGeom>
        </p:spPr>
        <p:txBody>
          <a:bodyPr wrap="square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④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防坠落风险</a:t>
            </a:r>
          </a:p>
        </p:txBody>
      </p:sp>
      <p:sp>
        <p:nvSpPr>
          <p:cNvPr id="14" name="稻壳优创意 6"/>
          <p:cNvSpPr/>
          <p:nvPr/>
        </p:nvSpPr>
        <p:spPr>
          <a:xfrm>
            <a:off x="1433830" y="4639310"/>
            <a:ext cx="7588250" cy="824841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家里的药物、消毒剂等应妥善管理，不要用饮料瓶存放消毒剂。不要随意取拿高处的物体，有需要喊爸爸妈妈拿</a:t>
            </a:r>
          </a:p>
        </p:txBody>
      </p:sp>
      <p:grpSp>
        <p:nvGrpSpPr>
          <p:cNvPr id="2" name="稻壳优创意 7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4" name="稻壳优创意 7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5" name="稻壳优创意 7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5176520" y="2089464"/>
            <a:ext cx="46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05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反诈篇：牢固树立反诈意识</a:t>
            </a:r>
          </a:p>
        </p:txBody>
      </p:sp>
      <p:sp>
        <p:nvSpPr>
          <p:cNvPr id="8" name="文本框 1"/>
          <p:cNvSpPr/>
          <p:nvPr/>
        </p:nvSpPr>
        <p:spPr>
          <a:xfrm>
            <a:off x="5176520" y="2768915"/>
            <a:ext cx="5628640" cy="1320170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现在社会上的诈骗方式形形色色，让人防不胜防，导致反诈形势也是非常严峻。我们一定要牢固树立反诈意识，对接收到的所有信息都要再三甄别，反复确认。</a:t>
            </a:r>
          </a:p>
        </p:txBody>
      </p:sp>
      <p:sp>
        <p:nvSpPr>
          <p:cNvPr id="13" name="文本框 2"/>
          <p:cNvSpPr/>
          <p:nvPr/>
        </p:nvSpPr>
        <p:spPr>
          <a:xfrm>
            <a:off x="5176520" y="4301810"/>
            <a:ext cx="5628640" cy="1320170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特别是当您收到来自学校，来自班主任的涉及到钱的信息时，请您记住，一定要和班主任电话确认，一般情况下学校不会发送此类信息，涉及到钱，抱着怀疑的态度总是没错的。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3" name="文本框 2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CD9CAE41-F253-501B-8229-F145E34B96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5752" y="2955244"/>
            <a:ext cx="3052923" cy="25622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8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优创意 1"/>
          <p:cNvSpPr/>
          <p:nvPr/>
        </p:nvSpPr>
        <p:spPr>
          <a:xfrm>
            <a:off x="4466272" y="1791952"/>
            <a:ext cx="3259455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防网络诈骗</a:t>
            </a:r>
          </a:p>
        </p:txBody>
      </p:sp>
      <p:sp>
        <p:nvSpPr>
          <p:cNvPr id="7" name="稻壳优创意 2"/>
          <p:cNvSpPr/>
          <p:nvPr/>
        </p:nvSpPr>
        <p:spPr>
          <a:xfrm>
            <a:off x="1321436" y="2789929"/>
            <a:ext cx="3017520" cy="2468880"/>
          </a:xfrm>
          <a:prstGeom prst="roundRect">
            <a:avLst>
              <a:gd name="adj" fmla="val 11111"/>
            </a:avLst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6" name="稻壳优创意 3"/>
          <p:cNvSpPr/>
          <p:nvPr/>
        </p:nvSpPr>
        <p:spPr>
          <a:xfrm>
            <a:off x="1728471" y="3728768"/>
            <a:ext cx="220345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注意信息安全，自己和家人的信息不要透露给陌生人或网友</a:t>
            </a:r>
          </a:p>
        </p:txBody>
      </p:sp>
      <p:sp>
        <p:nvSpPr>
          <p:cNvPr id="12" name="稻壳优创意 4"/>
          <p:cNvSpPr/>
          <p:nvPr/>
        </p:nvSpPr>
        <p:spPr>
          <a:xfrm>
            <a:off x="2042160" y="3139439"/>
            <a:ext cx="1554480" cy="39274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5" name="稻壳优创意 5"/>
          <p:cNvSpPr/>
          <p:nvPr/>
        </p:nvSpPr>
        <p:spPr>
          <a:xfrm>
            <a:off x="4587239" y="2789929"/>
            <a:ext cx="3017520" cy="2468880"/>
          </a:xfrm>
          <a:prstGeom prst="roundRect">
            <a:avLst>
              <a:gd name="adj" fmla="val 11111"/>
            </a:avLst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4" name="稻壳优创意 6"/>
          <p:cNvSpPr/>
          <p:nvPr/>
        </p:nvSpPr>
        <p:spPr>
          <a:xfrm>
            <a:off x="4994274" y="3728768"/>
            <a:ext cx="220345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慎交网友，不与陌生网友见面</a:t>
            </a:r>
          </a:p>
        </p:txBody>
      </p:sp>
      <p:sp>
        <p:nvSpPr>
          <p:cNvPr id="17" name="稻壳优创意 7"/>
          <p:cNvSpPr/>
          <p:nvPr/>
        </p:nvSpPr>
        <p:spPr>
          <a:xfrm>
            <a:off x="5318759" y="3139439"/>
            <a:ext cx="1554480" cy="39274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6" name="稻壳优创意 8"/>
          <p:cNvSpPr/>
          <p:nvPr/>
        </p:nvSpPr>
        <p:spPr>
          <a:xfrm>
            <a:off x="7862887" y="2789929"/>
            <a:ext cx="3017520" cy="2468880"/>
          </a:xfrm>
          <a:prstGeom prst="roundRect">
            <a:avLst>
              <a:gd name="adj" fmla="val 11111"/>
            </a:avLst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8" name="稻壳优创意 9"/>
          <p:cNvSpPr/>
          <p:nvPr/>
        </p:nvSpPr>
        <p:spPr>
          <a:xfrm>
            <a:off x="8060055" y="3728768"/>
            <a:ext cx="262318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不能在网络中随便充值、转账、打赏，一旦涉及金钱交易要先征求家长的同意</a:t>
            </a:r>
          </a:p>
        </p:txBody>
      </p:sp>
      <p:sp>
        <p:nvSpPr>
          <p:cNvPr id="18" name="稻壳优创意 10"/>
          <p:cNvSpPr/>
          <p:nvPr/>
        </p:nvSpPr>
        <p:spPr>
          <a:xfrm>
            <a:off x="8595360" y="3139439"/>
            <a:ext cx="1554480" cy="39274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5" name="稻壳优创意 11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11" name="稻壳优创意 11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劳逸结合不忘学习</a:t>
              </a:r>
            </a:p>
          </p:txBody>
        </p:sp>
        <p:sp>
          <p:nvSpPr>
            <p:cNvPr id="13" name="稻壳优创意 11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3324000" y="1620000"/>
            <a:ext cx="5544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06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饮食安全篇：饮食规律 注意卫生</a:t>
            </a:r>
          </a:p>
        </p:txBody>
      </p:sp>
      <p:sp>
        <p:nvSpPr>
          <p:cNvPr id="8" name="文本框 "/>
          <p:cNvSpPr/>
          <p:nvPr/>
        </p:nvSpPr>
        <p:spPr>
          <a:xfrm>
            <a:off x="1575752" y="2743355"/>
            <a:ext cx="4988560" cy="2341923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俗话说，病从口入。假期里，肯定会有很多的美食在等着我们。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当我们面对美味佳肴的时候，我们一定要提醒孩子吃饭前先洗手，即使遇到喜欢的食物也不能暴饮暴食，对于半生不熟甚至是不健康、不卫生的食物坚决不吃。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4" name="文本框 3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6EA92E2-0DA3-9BFC-A81F-2A0E4CDE3E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574" y="2610723"/>
            <a:ext cx="2084349" cy="30139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稻壳优创意 1"/>
          <p:cNvSpPr/>
          <p:nvPr/>
        </p:nvSpPr>
        <p:spPr>
          <a:xfrm>
            <a:off x="2889824" y="1620000"/>
            <a:ext cx="6412353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tIns="107950" bIns="71755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07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防寒保暖篇—— 严寒天气 做好保障</a:t>
            </a:r>
          </a:p>
        </p:txBody>
      </p:sp>
      <p:grpSp>
        <p:nvGrpSpPr>
          <p:cNvPr id="4" name="稻壳优创意 2"/>
          <p:cNvGrpSpPr/>
          <p:nvPr/>
        </p:nvGrpSpPr>
        <p:grpSpPr>
          <a:xfrm>
            <a:off x="1589615" y="2621631"/>
            <a:ext cx="2877185" cy="780395"/>
            <a:chOff x="1641678" y="3050887"/>
            <a:chExt cx="2877185" cy="780395"/>
          </a:xfrm>
        </p:grpSpPr>
        <p:sp>
          <p:nvSpPr>
            <p:cNvPr id="5" name="稻壳优创意 2-1"/>
            <p:cNvSpPr txBox="1"/>
            <p:nvPr/>
          </p:nvSpPr>
          <p:spPr>
            <a:xfrm>
              <a:off x="1641678" y="3308062"/>
              <a:ext cx="287718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b="1" i="0">
                  <a:effectLst/>
                  <a:latin typeface="system-ui"/>
                </a:defRPr>
              </a:lvl1pPr>
            </a:lstStyle>
            <a:p>
              <a:pPr marL="285750" marR="0" lvl="0" indent="-28575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合理穿衣以手心温暖为度</a:t>
              </a:r>
            </a:p>
          </p:txBody>
        </p:sp>
        <p:sp>
          <p:nvSpPr>
            <p:cNvPr id="17" name="稻壳优创意 2-2"/>
            <p:cNvSpPr txBox="1"/>
            <p:nvPr/>
          </p:nvSpPr>
          <p:spPr>
            <a:xfrm>
              <a:off x="1641678" y="3050887"/>
              <a:ext cx="2240280" cy="36830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合理穿衣、随时增减</a:t>
              </a:r>
            </a:p>
          </p:txBody>
        </p:sp>
      </p:grpSp>
      <p:grpSp>
        <p:nvGrpSpPr>
          <p:cNvPr id="8" name="稻壳优创意 3"/>
          <p:cNvGrpSpPr/>
          <p:nvPr/>
        </p:nvGrpSpPr>
        <p:grpSpPr>
          <a:xfrm>
            <a:off x="1589412" y="3737412"/>
            <a:ext cx="3281045" cy="1500588"/>
            <a:chOff x="1641475" y="4166668"/>
            <a:chExt cx="3281045" cy="1500588"/>
          </a:xfrm>
        </p:grpSpPr>
        <p:sp>
          <p:nvSpPr>
            <p:cNvPr id="7" name="稻壳优创意 3-1"/>
            <p:cNvSpPr txBox="1"/>
            <p:nvPr/>
          </p:nvSpPr>
          <p:spPr>
            <a:xfrm>
              <a:off x="1641475" y="4497705"/>
              <a:ext cx="3281045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b="1" i="0">
                  <a:effectLst/>
                  <a:latin typeface="system-ui"/>
                </a:defRPr>
              </a:lvl1pPr>
            </a:lstStyle>
            <a:p>
              <a:pPr marL="285750" marR="0" lvl="0" indent="-2857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特别是室内外温差较大的情况下，避免着凉，避免接触到传染性病原体。</a:t>
              </a:r>
            </a:p>
          </p:txBody>
        </p:sp>
        <p:sp>
          <p:nvSpPr>
            <p:cNvPr id="2" name="稻壳优创意 3-2"/>
            <p:cNvSpPr txBox="1"/>
            <p:nvPr/>
          </p:nvSpPr>
          <p:spPr>
            <a:xfrm>
              <a:off x="1641678" y="4166668"/>
              <a:ext cx="1325880" cy="36830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外出戴口罩</a:t>
              </a:r>
            </a:p>
          </p:txBody>
        </p:sp>
      </p:grpSp>
      <p:grpSp>
        <p:nvGrpSpPr>
          <p:cNvPr id="9" name="稻壳优创意 4"/>
          <p:cNvGrpSpPr/>
          <p:nvPr/>
        </p:nvGrpSpPr>
        <p:grpSpPr>
          <a:xfrm>
            <a:off x="5266697" y="2621631"/>
            <a:ext cx="4035480" cy="1446411"/>
            <a:chOff x="5318760" y="3050887"/>
            <a:chExt cx="4035480" cy="1446411"/>
          </a:xfrm>
        </p:grpSpPr>
        <p:sp>
          <p:nvSpPr>
            <p:cNvPr id="3" name="稻壳优创意 4-1"/>
            <p:cNvSpPr txBox="1"/>
            <p:nvPr/>
          </p:nvSpPr>
          <p:spPr>
            <a:xfrm>
              <a:off x="5318761" y="3327747"/>
              <a:ext cx="4035479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b="1" i="0">
                  <a:effectLst/>
                  <a:latin typeface="system-ui"/>
                </a:defRPr>
              </a:lvl1pPr>
            </a:lstStyle>
            <a:p>
              <a:pPr marL="285750" marR="0" lvl="0" indent="-2857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夜间睡眠，被褥要及时盖好，以免着凉。</a:t>
              </a:r>
            </a:p>
            <a:p>
              <a:pPr marL="285750" marR="0" lvl="0" indent="-2857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不然会引起肺炎、心肌炎、急性肾炎等。</a:t>
              </a:r>
            </a:p>
            <a:p>
              <a:pPr marL="285750" marR="0" lvl="0" indent="-28575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可以开空调取暖，放上热水袋。</a:t>
              </a:r>
            </a:p>
          </p:txBody>
        </p:sp>
        <p:sp>
          <p:nvSpPr>
            <p:cNvPr id="6" name="稻壳优创意 4-2"/>
            <p:cNvSpPr txBox="1"/>
            <p:nvPr/>
          </p:nvSpPr>
          <p:spPr>
            <a:xfrm>
              <a:off x="5318760" y="3050887"/>
              <a:ext cx="1554480" cy="36830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夜间盖好被褥</a:t>
              </a:r>
            </a:p>
          </p:txBody>
        </p:sp>
      </p:grpSp>
      <p:pic>
        <p:nvPicPr>
          <p:cNvPr id="16" name="稻壳优创意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53828" y="5191278"/>
            <a:ext cx="53852" cy="1290843"/>
          </a:xfrm>
          <a:custGeom>
            <a:avLst/>
            <a:gdLst>
              <a:gd name="connsiteX0" fmla="*/ 0 w 53852"/>
              <a:gd name="connsiteY0" fmla="*/ 0 h 1290843"/>
              <a:gd name="connsiteX1" fmla="*/ 53852 w 53852"/>
              <a:gd name="connsiteY1" fmla="*/ 66523 h 1290843"/>
              <a:gd name="connsiteX2" fmla="*/ 53852 w 53852"/>
              <a:gd name="connsiteY2" fmla="*/ 752323 h 1290843"/>
              <a:gd name="connsiteX3" fmla="*/ 0 w 53852"/>
              <a:gd name="connsiteY3" fmla="*/ 1290843 h 1290843"/>
              <a:gd name="connsiteX4" fmla="*/ 0 w 53852"/>
              <a:gd name="connsiteY4" fmla="*/ 0 h 1290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52" h="1290843">
                <a:moveTo>
                  <a:pt x="0" y="0"/>
                </a:moveTo>
                <a:lnTo>
                  <a:pt x="53852" y="66523"/>
                </a:lnTo>
                <a:lnTo>
                  <a:pt x="53852" y="752323"/>
                </a:lnTo>
                <a:lnTo>
                  <a:pt x="0" y="1290843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1" name="稻壳优创意 6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12" name="稻壳优创意 6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元旦假期安全须知</a:t>
              </a:r>
            </a:p>
          </p:txBody>
        </p:sp>
        <p:sp>
          <p:nvSpPr>
            <p:cNvPr id="13" name="稻壳优创意 6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19" name="稻壳优创意 7">
            <a:extLst>
              <a:ext uri="{FF2B5EF4-FFF2-40B4-BE49-F238E27FC236}">
                <a16:creationId xmlns:a16="http://schemas.microsoft.com/office/drawing/2014/main" id="{A31EA0E7-56E3-805F-47D9-0ABB7ADF73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4437" y="4344902"/>
            <a:ext cx="2061931" cy="1200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25924" y="2001266"/>
            <a:ext cx="3740152" cy="502879"/>
            <a:chOff x="5112" y="5853"/>
            <a:chExt cx="4024" cy="541"/>
          </a:xfrm>
          <a:solidFill>
            <a:schemeClr val="accent1"/>
          </a:solidFill>
        </p:grpSpPr>
        <p:sp>
          <p:nvSpPr>
            <p:cNvPr id="3" name="圆角矩形 4"/>
            <p:cNvSpPr/>
            <p:nvPr/>
          </p:nvSpPr>
          <p:spPr>
            <a:xfrm>
              <a:off x="5814" y="5853"/>
              <a:ext cx="2621" cy="54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第四部分</a:t>
              </a:r>
            </a:p>
          </p:txBody>
        </p:sp>
        <p:sp>
          <p:nvSpPr>
            <p:cNvPr id="4" name="五角星 5"/>
            <p:cNvSpPr/>
            <p:nvPr/>
          </p:nvSpPr>
          <p:spPr>
            <a:xfrm>
              <a:off x="5112" y="5900"/>
              <a:ext cx="447" cy="447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5" name="五角星 6"/>
            <p:cNvSpPr/>
            <p:nvPr/>
          </p:nvSpPr>
          <p:spPr>
            <a:xfrm>
              <a:off x="8689" y="5900"/>
              <a:ext cx="447" cy="447"/>
            </a:xfrm>
            <a:prstGeom prst="star5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404553" y="2983046"/>
            <a:ext cx="5382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劳逸结合不忘学习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26281" y="4129245"/>
            <a:ext cx="5539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HOLIDAY SAFETY EDUCATION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"/>
          <p:cNvSpPr/>
          <p:nvPr/>
        </p:nvSpPr>
        <p:spPr>
          <a:xfrm>
            <a:off x="1575752" y="3553590"/>
            <a:ext cx="4846955" cy="1751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一个愉快而有意义的假期，就是要科学地安排各种内容健康的活动，这样既达到积极休息的目的，又起到扩展知识、提升精神境界的作用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201067" y="2617567"/>
            <a:ext cx="324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合理安排假期生活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6" name="文本框 5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劳逸结合不忘学习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4BE2E44-8904-4CE7-F79D-83A5D97A3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5162" y="2229000"/>
            <a:ext cx="3477617" cy="34776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稻壳优创意 1"/>
          <p:cNvGrpSpPr/>
          <p:nvPr/>
        </p:nvGrpSpPr>
        <p:grpSpPr>
          <a:xfrm>
            <a:off x="1574165" y="2046442"/>
            <a:ext cx="9286875" cy="3102896"/>
            <a:chOff x="1574165" y="2046442"/>
            <a:chExt cx="9286875" cy="3102896"/>
          </a:xfrm>
        </p:grpSpPr>
        <p:sp>
          <p:nvSpPr>
            <p:cNvPr id="3" name="稻壳优创意 1-1"/>
            <p:cNvSpPr/>
            <p:nvPr/>
          </p:nvSpPr>
          <p:spPr>
            <a:xfrm>
              <a:off x="3158173" y="2046442"/>
              <a:ext cx="5875655" cy="511175"/>
            </a:xfrm>
            <a:prstGeom prst="round2DiagRect">
              <a:avLst/>
            </a:prstGeom>
            <a:noFill/>
          </p:spPr>
          <p:txBody>
            <a:bodyPr wrap="square" tIns="71755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汉仪正圆-55W" panose="00020600040101010101" pitchFamily="18" charset="-122"/>
                <a:buNone/>
                <a:tabLst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C30000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合理安排时间，做到娱乐学习两不误</a:t>
              </a:r>
            </a:p>
          </p:txBody>
        </p:sp>
        <p:sp>
          <p:nvSpPr>
            <p:cNvPr id="25" name="稻壳优创意 1-2"/>
            <p:cNvSpPr/>
            <p:nvPr/>
          </p:nvSpPr>
          <p:spPr>
            <a:xfrm>
              <a:off x="1574165" y="3104829"/>
              <a:ext cx="646430" cy="360000"/>
            </a:xfrm>
            <a:prstGeom prst="roundRect">
              <a:avLst>
                <a:gd name="adj" fmla="val 50000"/>
              </a:avLst>
            </a:prstGeom>
            <a:solidFill>
              <a:srgbClr val="C30000"/>
            </a:solidFill>
          </p:spPr>
          <p:txBody>
            <a:bodyPr wrap="square" tIns="71755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0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1</a:t>
              </a:r>
            </a:p>
          </p:txBody>
        </p:sp>
        <p:sp>
          <p:nvSpPr>
            <p:cNvPr id="26" name="稻壳优创意 1-3"/>
            <p:cNvSpPr/>
            <p:nvPr/>
          </p:nvSpPr>
          <p:spPr>
            <a:xfrm>
              <a:off x="2240280" y="2930525"/>
              <a:ext cx="8620760" cy="221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控制上网时间减少用手机的时间和次数，一天不超过1个小时。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少玩游戏，少刷短视频，少看直播，可以借助互联网来学习，拓展自己的知识面。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合理安排作息时间，保持良好生活习惯。保证每天充足的睡眠时间，养成早睡早起的好习惯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保质保量完成假期作业、认真阅读课外读物；做必要的体育锻炼，强健体魄。</a:t>
              </a:r>
            </a:p>
          </p:txBody>
        </p:sp>
        <p:sp>
          <p:nvSpPr>
            <p:cNvPr id="2" name="稻壳优创意 1-4"/>
            <p:cNvSpPr/>
            <p:nvPr/>
          </p:nvSpPr>
          <p:spPr>
            <a:xfrm>
              <a:off x="1574165" y="3662994"/>
              <a:ext cx="646430" cy="360000"/>
            </a:xfrm>
            <a:prstGeom prst="roundRect">
              <a:avLst>
                <a:gd name="adj" fmla="val 50000"/>
              </a:avLst>
            </a:prstGeom>
            <a:solidFill>
              <a:srgbClr val="C30000"/>
            </a:solidFill>
          </p:spPr>
          <p:txBody>
            <a:bodyPr wrap="square" tIns="71755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02</a:t>
              </a:r>
            </a:p>
          </p:txBody>
        </p:sp>
        <p:sp>
          <p:nvSpPr>
            <p:cNvPr id="5" name="稻壳优创意 1-5"/>
            <p:cNvSpPr/>
            <p:nvPr/>
          </p:nvSpPr>
          <p:spPr>
            <a:xfrm>
              <a:off x="1574165" y="4221159"/>
              <a:ext cx="646430" cy="360000"/>
            </a:xfrm>
            <a:prstGeom prst="roundRect">
              <a:avLst>
                <a:gd name="adj" fmla="val 50000"/>
              </a:avLst>
            </a:prstGeom>
            <a:solidFill>
              <a:srgbClr val="C30000"/>
            </a:solidFill>
          </p:spPr>
          <p:txBody>
            <a:bodyPr wrap="square" tIns="71755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03</a:t>
              </a:r>
            </a:p>
          </p:txBody>
        </p:sp>
        <p:sp>
          <p:nvSpPr>
            <p:cNvPr id="8" name="稻壳优创意 1-6"/>
            <p:cNvSpPr/>
            <p:nvPr/>
          </p:nvSpPr>
          <p:spPr>
            <a:xfrm>
              <a:off x="1574165" y="4779324"/>
              <a:ext cx="646430" cy="360000"/>
            </a:xfrm>
            <a:prstGeom prst="roundRect">
              <a:avLst>
                <a:gd name="adj" fmla="val 50000"/>
              </a:avLst>
            </a:prstGeom>
            <a:solidFill>
              <a:srgbClr val="C30000"/>
            </a:solidFill>
          </p:spPr>
          <p:txBody>
            <a:bodyPr wrap="square" tIns="71755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04</a:t>
              </a:r>
            </a:p>
          </p:txBody>
        </p:sp>
      </p:grpSp>
      <p:grpSp>
        <p:nvGrpSpPr>
          <p:cNvPr id="7" name="稻壳优创意 2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9" name="稻壳优创意 2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劳逸结合不忘学习</a:t>
              </a:r>
            </a:p>
          </p:txBody>
        </p:sp>
        <p:sp>
          <p:nvSpPr>
            <p:cNvPr id="10" name="稻壳优创意 2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优创意 1"/>
          <p:cNvSpPr/>
          <p:nvPr/>
        </p:nvSpPr>
        <p:spPr>
          <a:xfrm>
            <a:off x="4154655" y="2052955"/>
            <a:ext cx="3882690" cy="5054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《新的开始，新的起点》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4" name="稻壳优创意 2"/>
          <p:cNvSpPr/>
          <p:nvPr/>
        </p:nvSpPr>
        <p:spPr>
          <a:xfrm>
            <a:off x="1325880" y="2799884"/>
            <a:ext cx="9540240" cy="2328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20XX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年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已经过去了，回忆即将过去的一年我们有过收获和喜悦，有过成功和失败，回忆这一年我们要感激曾给予我们关心和帮助的人。我们要感谢含茹如苦养育我们的父母，感谢不辞辛劳培育我们的老师，感谢给予我们帮助的同学和朋友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3000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同学们新的一年，新的起点，祝同学们在新的一年里学有所成！</a:t>
            </a:r>
          </a:p>
        </p:txBody>
      </p:sp>
      <p:grpSp>
        <p:nvGrpSpPr>
          <p:cNvPr id="2" name="稻壳优创意 3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5" name="稻壳优创意 3-1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劳逸结合不忘学习</a:t>
              </a:r>
            </a:p>
          </p:txBody>
        </p:sp>
        <p:sp>
          <p:nvSpPr>
            <p:cNvPr id="6" name="稻壳优创意 3-2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1615440" y="2472143"/>
            <a:ext cx="3421406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tIns="36195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 祝大家元旦快乐！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" name="文本框 "/>
          <p:cNvSpPr/>
          <p:nvPr/>
        </p:nvSpPr>
        <p:spPr>
          <a:xfrm>
            <a:off x="1627271" y="3845858"/>
            <a:ext cx="4480560" cy="1151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3000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愿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C3000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20XX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3000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疫情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30000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散去，愿祖国国泰民安，愿我们共迎春暖花开。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575752" y="640834"/>
            <a:ext cx="4320000" cy="764417"/>
            <a:chOff x="1676400" y="735772"/>
            <a:chExt cx="4320000" cy="764417"/>
          </a:xfrm>
        </p:grpSpPr>
        <p:sp>
          <p:nvSpPr>
            <p:cNvPr id="3" name="文本框 2"/>
            <p:cNvSpPr txBox="1"/>
            <p:nvPr/>
          </p:nvSpPr>
          <p:spPr>
            <a:xfrm>
              <a:off x="1676400" y="735772"/>
              <a:ext cx="4320000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D21F01"/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劳逸结合不忘学习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676400" y="1158621"/>
              <a:ext cx="3600000" cy="34156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OPPOSans B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B" panose="00020600040101010101" pitchFamily="18" charset="-122"/>
                </a:rPr>
                <a:t>HOLIDAY SAFETY EDUCATION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DC652E91-46FD-9752-E2BB-55225A8BD35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5156" y="2199596"/>
            <a:ext cx="2967140" cy="3109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8">
            <a:extLst>
              <a:ext uri="{FF2B5EF4-FFF2-40B4-BE49-F238E27FC236}">
                <a16:creationId xmlns:a16="http://schemas.microsoft.com/office/drawing/2014/main" id="{E1EADAD2-02F9-389B-46E8-7E823A19D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280" y="1022311"/>
            <a:ext cx="10437440" cy="487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8453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OPPOSans R" panose="00020600040101010101" pitchFamily="18" charset="-122"/>
              </a:defRPr>
            </a:lvl1pPr>
            <a:lvl2pPr marL="514350" indent="-171450" defTabSz="68453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OPPOSans R" panose="00020600040101010101" pitchFamily="18" charset="-122"/>
              </a:defRPr>
            </a:lvl2pPr>
            <a:lvl3pPr marL="857250" indent="-171450" defTabSz="68453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OPPOSans R" panose="00020600040101010101" pitchFamily="18" charset="-122"/>
              </a:defRPr>
            </a:lvl3pPr>
            <a:lvl4pPr marL="1200150" indent="-171450" defTabSz="68453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4pPr>
            <a:lvl5pPr marL="1543050" indent="-171450" defTabSz="68453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5pPr>
            <a:lvl6pPr marL="2000250" indent="-171450" defTabSz="68453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6pPr>
            <a:lvl7pPr marL="2457450" indent="-171450" defTabSz="68453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7pPr>
            <a:lvl8pPr marL="2914650" indent="-171450" defTabSz="68453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8pPr>
            <a:lvl9pPr marL="3371850" indent="-171450" defTabSz="68453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OPPOSans R" panose="00020600040101010101" pitchFamily="18" charset="-122"/>
              </a:defRPr>
            </a:lvl9pPr>
          </a:lstStyle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4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版权声明</a:t>
            </a:r>
            <a:endParaRPr lang="zh-CN" altLang="en-US" sz="2800" dirty="0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       感谢您下载本网站平台上提供的PPT作品，为了您和本网站以及演讲人作者的利益，请勿复制、传播、销售，否则将承担法律责任！本网站将对作品进行维权，按照传播下载次数进行十倍的索取赔偿！</a:t>
            </a: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        1. 在本网站出售的PPT模板是免版税类(RF:Royalty-Free)正版受《中国人民共和国著作法》和《世界版权公约》的保护，作品的所有权、版权和著作权归本网站所有,您下载的是PPT模板素材的使用权。</a:t>
            </a: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        2. 不得将本网站的PPT模板、PPT素材，本身用于再出售,或者出租、出借、转让、分销、发布或者作为礼物供他人使用，不得转授权、出卖、转让本协议或者本协议中的权利。</a:t>
            </a:r>
          </a:p>
        </p:txBody>
      </p:sp>
    </p:spTree>
    <p:extLst>
      <p:ext uri="{BB962C8B-B14F-4D97-AF65-F5344CB8AC3E}">
        <p14:creationId xmlns:p14="http://schemas.microsoft.com/office/powerpoint/2010/main" val="3007400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2458887" y="4417991"/>
            <a:ext cx="74282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B8833F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元旦放假通知及安全教育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8833F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主题班会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B8833F"/>
              </a:solidFill>
              <a:effectLst/>
              <a:uLnTx/>
              <a:uFillTx/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672916" y="2291013"/>
            <a:ext cx="4795223" cy="193899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 w="12700"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OPPOSans B" panose="00020600040101010101" pitchFamily="18" charset="-122"/>
              </a:rPr>
              <a:t>元 旦</a:t>
            </a:r>
            <a:endParaRPr kumimoji="0" lang="en-US" altLang="zh-CN" sz="6000" b="0" i="0" u="none" strike="noStrike" kern="1200" cap="none" spc="0" normalizeH="0" baseline="0" noProof="0" dirty="0">
              <a:ln w="12700">
                <a:noFill/>
              </a:ln>
              <a:solidFill>
                <a:srgbClr val="D21F01"/>
              </a:solidFill>
              <a:effectLst/>
              <a:uLnTx/>
              <a:uFillTx/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OPPOSans B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 w="12700">
                  <a:noFill/>
                </a:ln>
                <a:solidFill>
                  <a:srgbClr val="D21F0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OPPOSans B" panose="00020600040101010101" pitchFamily="18" charset="-122"/>
              </a:rPr>
              <a:t>感谢您的聆听</a:t>
            </a:r>
          </a:p>
        </p:txBody>
      </p:sp>
      <p:sp>
        <p:nvSpPr>
          <p:cNvPr id="2" name="矩形 1"/>
          <p:cNvSpPr/>
          <p:nvPr/>
        </p:nvSpPr>
        <p:spPr>
          <a:xfrm>
            <a:off x="4336544" y="1798570"/>
            <a:ext cx="35189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B8833F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安全记心中快乐过元旦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92232" y="2402995"/>
            <a:ext cx="2475468" cy="715089"/>
          </a:xfrm>
          <a:prstGeom prst="wedgeRoundRectCallout">
            <a:avLst>
              <a:gd name="adj1" fmla="val -31089"/>
              <a:gd name="adj2" fmla="val 66206"/>
              <a:gd name="adj3" fmla="val 16667"/>
            </a:avLst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HOLIDAY SAFETY EDUCATION</a:t>
            </a:r>
          </a:p>
        </p:txBody>
      </p:sp>
    </p:spTree>
    <p:extLst>
      <p:ext uri="{BB962C8B-B14F-4D97-AF65-F5344CB8AC3E}">
        <p14:creationId xmlns:p14="http://schemas.microsoft.com/office/powerpoint/2010/main" val="409784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bldLvl="0"/>
      <p:bldP spid="2" grpId="0"/>
    </p:bldLst>
  </p:timing>
</p:sld>
</file>

<file path=ppt/theme/theme1.xml><?xml version="1.0" encoding="utf-8"?>
<a:theme xmlns:a="http://schemas.openxmlformats.org/drawingml/2006/main" name="来自格调办公www.styleppt.com1">
  <a:themeElements>
    <a:clrScheme name="自定义 185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21F01"/>
      </a:accent1>
      <a:accent2>
        <a:srgbClr val="B8833F"/>
      </a:accent2>
      <a:accent3>
        <a:srgbClr val="D21F01"/>
      </a:accent3>
      <a:accent4>
        <a:srgbClr val="B8833F"/>
      </a:accent4>
      <a:accent5>
        <a:srgbClr val="D21F01"/>
      </a:accent5>
      <a:accent6>
        <a:srgbClr val="B8833F"/>
      </a:accent6>
      <a:hlink>
        <a:srgbClr val="D21F01"/>
      </a:hlink>
      <a:folHlink>
        <a:srgbClr val="B8833F"/>
      </a:folHlink>
    </a:clrScheme>
    <a:fontScheme name="1212121">
      <a:majorFont>
        <a:latin typeface="汉仪雅酷黑 85W"/>
        <a:ea typeface="汉仪雅酷黑 85W"/>
        <a:cs typeface=""/>
      </a:majorFont>
      <a:minorFont>
        <a:latin typeface="汉仪雅酷黑 85W"/>
        <a:ea typeface="汉仪正圆-55W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稻壳优创意</Template>
  <TotalTime>0</TotalTime>
  <Words>1960</Words>
  <Application>Microsoft Office PowerPoint</Application>
  <PresentationFormat>宽屏</PresentationFormat>
  <Paragraphs>227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OPPOSans B</vt:lpstr>
      <vt:lpstr>OPPOSans R</vt:lpstr>
      <vt:lpstr>汉仪正圆-55W</vt:lpstr>
      <vt:lpstr>思源黑体</vt:lpstr>
      <vt:lpstr>思源黑体 Normal</vt:lpstr>
      <vt:lpstr>Arial</vt:lpstr>
      <vt:lpstr>Wingdings</vt:lpstr>
      <vt:lpstr>来自格调办公www.styleppt.com1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2020-02-19T05:02:50Z</dcterms:created>
  <dcterms:modified xsi:type="dcterms:W3CDTF">2023-12-18T08:23:29Z</dcterms:modified>
  <cp:category/>
  <cp:contentStatus/>
</cp:coreProperties>
</file>